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Helvetica World" panose="020B0604020202020204" charset="-128"/>
      <p:regular r:id="rId9"/>
    </p:embeddedFont>
    <p:embeddedFont>
      <p:font typeface="Arial Bold" panose="020B0704020202020204" pitchFamily="34" charset="0"/>
      <p:regular r:id="rId10"/>
      <p:bold r:id="rId11"/>
    </p:embeddedFont>
    <p:embeddedFont>
      <p:font typeface="Arial MT Pro" panose="020B0604020202020204" charset="0"/>
      <p:regular r:id="rId12"/>
    </p:embeddedFon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Clear Sans Bold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HK Modular" panose="020B0604020202020204" charset="0"/>
      <p:regular r:id="rId20"/>
    </p:embeddedFont>
    <p:embeddedFont>
      <p:font typeface="KG Primary Penmanship" panose="020B0604020202020204" charset="0"/>
      <p:regular r:id="rId21"/>
    </p:embeddedFont>
    <p:embeddedFont>
      <p:font typeface="Nunito Bold" panose="020B0604020202020204" charset="0"/>
      <p:regular r:id="rId22"/>
    </p:embeddedFont>
    <p:embeddedFont>
      <p:font typeface="PT Sans" panose="020B0503020203020204" pitchFamily="34" charset="0"/>
      <p:regular r:id="rId23"/>
    </p:embeddedFont>
    <p:embeddedFont>
      <p:font typeface="Ruda Black" panose="020B0604020202020204" charset="0"/>
      <p:regular r:id="rId24"/>
    </p:embeddedFont>
    <p:embeddedFont>
      <p:font typeface="Sniglet" panose="020B0604020202020204" charset="0"/>
      <p:regular r:id="rId25"/>
    </p:embeddedFont>
    <p:embeddedFont>
      <p:font typeface="Times New Roman Bold" panose="02020803070505020304" pitchFamily="18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629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jpeg"/><Relationship Id="rId10" Type="http://schemas.openxmlformats.org/officeDocument/2006/relationships/image" Target="../media/image9.png"/><Relationship Id="rId4" Type="http://schemas.openxmlformats.org/officeDocument/2006/relationships/image" Target="../media/image1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2.jpeg"/><Relationship Id="rId10" Type="http://schemas.openxmlformats.org/officeDocument/2006/relationships/image" Target="../media/image14.png"/><Relationship Id="rId4" Type="http://schemas.openxmlformats.org/officeDocument/2006/relationships/image" Target="../media/image1.jpe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2.jpeg"/><Relationship Id="rId10" Type="http://schemas.openxmlformats.org/officeDocument/2006/relationships/image" Target="../media/image23.png"/><Relationship Id="rId4" Type="http://schemas.openxmlformats.org/officeDocument/2006/relationships/image" Target="../media/image1.jpe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30616" y="457152"/>
            <a:ext cx="6509109" cy="1283094"/>
            <a:chOff x="0" y="0"/>
            <a:chExt cx="8678812" cy="1710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78799" cy="1710817"/>
            </a:xfrm>
            <a:custGeom>
              <a:avLst/>
              <a:gdLst/>
              <a:ahLst/>
              <a:cxnLst/>
              <a:rect l="l" t="t" r="r" b="b"/>
              <a:pathLst>
                <a:path w="8678799" h="1710817">
                  <a:moveTo>
                    <a:pt x="0" y="0"/>
                  </a:moveTo>
                  <a:lnTo>
                    <a:pt x="8678799" y="0"/>
                  </a:lnTo>
                  <a:lnTo>
                    <a:pt x="8678799" y="1710817"/>
                  </a:lnTo>
                  <a:lnTo>
                    <a:pt x="0" y="17108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777" b="-4877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230616" y="454352"/>
            <a:ext cx="6509109" cy="1285894"/>
            <a:chOff x="0" y="0"/>
            <a:chExt cx="8678812" cy="17145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78807" cy="1714531"/>
            </a:xfrm>
            <a:custGeom>
              <a:avLst/>
              <a:gdLst/>
              <a:ahLst/>
              <a:cxnLst/>
              <a:rect l="l" t="t" r="r" b="b"/>
              <a:pathLst>
                <a:path w="8678807" h="1714531">
                  <a:moveTo>
                    <a:pt x="0" y="0"/>
                  </a:moveTo>
                  <a:lnTo>
                    <a:pt x="8678807" y="0"/>
                  </a:lnTo>
                  <a:lnTo>
                    <a:pt x="8678807" y="1714531"/>
                  </a:lnTo>
                  <a:lnTo>
                    <a:pt x="0" y="1714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631" b="-4863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8678812" cy="1724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78"/>
                </a:lnSpc>
              </a:pPr>
              <a:r>
                <a:rPr lang="en-US" sz="6398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HACKARENA’26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21018" y="3278048"/>
            <a:ext cx="12245963" cy="467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/>
          </a:p>
          <a:p>
            <a:pPr marL="760095" lvl="2" indent="-253365" algn="just">
              <a:lnSpc>
                <a:spcPts val="8640"/>
              </a:lnSpc>
              <a:buFont typeface="Arial"/>
              <a:buChar char="⚬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ID: –PS-02</a:t>
            </a:r>
          </a:p>
          <a:p>
            <a:pPr marL="760095" lvl="2" indent="-253365" algn="just">
              <a:lnSpc>
                <a:spcPts val="8640"/>
              </a:lnSpc>
              <a:buFont typeface="Arial"/>
              <a:buChar char="⚬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Title:-   SecureLocker ESP32</a:t>
            </a:r>
          </a:p>
          <a:p>
            <a:pPr marL="760095" lvl="2" indent="-253365" algn="just">
              <a:lnSpc>
                <a:spcPts val="8640"/>
              </a:lnSpc>
              <a:buFont typeface="Arial"/>
              <a:buChar char="⚬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Theme:-  IoT &amp; Smart Infrastructure</a:t>
            </a:r>
          </a:p>
          <a:p>
            <a:pPr marL="760095" lvl="2" indent="-253365" algn="just">
              <a:lnSpc>
                <a:spcPts val="8640"/>
              </a:lnSpc>
              <a:buFont typeface="Arial"/>
              <a:buChar char="⚬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Code Scorers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616207" y="317154"/>
            <a:ext cx="4279992" cy="1423102"/>
            <a:chOff x="0" y="0"/>
            <a:chExt cx="5706656" cy="1897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06618" cy="1897507"/>
            </a:xfrm>
            <a:custGeom>
              <a:avLst/>
              <a:gdLst/>
              <a:ahLst/>
              <a:cxnLst/>
              <a:rect l="l" t="t" r="r" b="b"/>
              <a:pathLst>
                <a:path w="5706618" h="1897507">
                  <a:moveTo>
                    <a:pt x="0" y="0"/>
                  </a:moveTo>
                  <a:lnTo>
                    <a:pt x="5706618" y="0"/>
                  </a:lnTo>
                  <a:lnTo>
                    <a:pt x="5706618" y="1897507"/>
                  </a:lnTo>
                  <a:lnTo>
                    <a:pt x="0" y="189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6" b="-4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0"/>
            <a:ext cx="1552813" cy="1888769"/>
            <a:chOff x="0" y="0"/>
            <a:chExt cx="2070418" cy="25183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817" r="-1082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109604" y="9523095"/>
            <a:ext cx="18507208" cy="953853"/>
            <a:chOff x="0" y="0"/>
            <a:chExt cx="24676278" cy="12718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676227" cy="1271778"/>
            </a:xfrm>
            <a:custGeom>
              <a:avLst/>
              <a:gdLst/>
              <a:ahLst/>
              <a:cxnLst/>
              <a:rect l="l" t="t" r="r" b="b"/>
              <a:pathLst>
                <a:path w="24676227" h="1271778">
                  <a:moveTo>
                    <a:pt x="0" y="0"/>
                  </a:moveTo>
                  <a:lnTo>
                    <a:pt x="24676227" y="0"/>
                  </a:lnTo>
                  <a:lnTo>
                    <a:pt x="24676227" y="1271778"/>
                  </a:lnTo>
                  <a:lnTo>
                    <a:pt x="0" y="1271778"/>
                  </a:lnTo>
                  <a:close/>
                </a:path>
              </a:pathLst>
            </a:custGeom>
            <a:solidFill>
              <a:srgbClr val="231C4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741004" y="9658083"/>
            <a:ext cx="4806001" cy="683876"/>
            <a:chOff x="0" y="0"/>
            <a:chExt cx="6408001" cy="9118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8039" cy="911860"/>
            </a:xfrm>
            <a:custGeom>
              <a:avLst/>
              <a:gdLst/>
              <a:ahLst/>
              <a:cxnLst/>
              <a:rect l="l" t="t" r="r" b="b"/>
              <a:pathLst>
                <a:path w="6408039" h="911860">
                  <a:moveTo>
                    <a:pt x="0" y="0"/>
                  </a:moveTo>
                  <a:lnTo>
                    <a:pt x="6408039" y="0"/>
                  </a:lnTo>
                  <a:lnTo>
                    <a:pt x="6408039" y="911860"/>
                  </a:lnTo>
                  <a:lnTo>
                    <a:pt x="0" y="911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835" b="-8683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6741004" y="9643796"/>
            <a:ext cx="4806001" cy="698160"/>
            <a:chOff x="0" y="0"/>
            <a:chExt cx="6408001" cy="9308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08001" cy="930874"/>
            </a:xfrm>
            <a:custGeom>
              <a:avLst/>
              <a:gdLst/>
              <a:ahLst/>
              <a:cxnLst/>
              <a:rect l="l" t="t" r="r" b="b"/>
              <a:pathLst>
                <a:path w="6408001" h="930874">
                  <a:moveTo>
                    <a:pt x="0" y="0"/>
                  </a:moveTo>
                  <a:lnTo>
                    <a:pt x="6408001" y="0"/>
                  </a:lnTo>
                  <a:lnTo>
                    <a:pt x="6408001" y="930874"/>
                  </a:lnTo>
                  <a:lnTo>
                    <a:pt x="0" y="9308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1" b="-8413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408001" cy="9499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HACKARENA’26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48589" y="374421"/>
            <a:ext cx="11035069" cy="1276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24"/>
              </a:lnSpc>
            </a:pPr>
            <a:r>
              <a:rPr lang="en-US" sz="4186" b="1" u="sng" spc="20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SecureLocker – ESP32 Based Smart Locker</a:t>
            </a:r>
          </a:p>
          <a:p>
            <a:pPr algn="ctr">
              <a:lnSpc>
                <a:spcPts val="5024"/>
              </a:lnSpc>
            </a:pPr>
            <a:r>
              <a:rPr lang="en-US" sz="4186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 System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616207" y="317154"/>
            <a:ext cx="4279992" cy="1423102"/>
            <a:chOff x="0" y="0"/>
            <a:chExt cx="5706656" cy="18974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06618" cy="1897507"/>
            </a:xfrm>
            <a:custGeom>
              <a:avLst/>
              <a:gdLst/>
              <a:ahLst/>
              <a:cxnLst/>
              <a:rect l="l" t="t" r="r" b="b"/>
              <a:pathLst>
                <a:path w="5706618" h="1897507">
                  <a:moveTo>
                    <a:pt x="0" y="0"/>
                  </a:moveTo>
                  <a:lnTo>
                    <a:pt x="5706618" y="0"/>
                  </a:lnTo>
                  <a:lnTo>
                    <a:pt x="5706618" y="1897507"/>
                  </a:lnTo>
                  <a:lnTo>
                    <a:pt x="0" y="189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" b="-44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895964" y="0"/>
            <a:ext cx="1552813" cy="1888769"/>
            <a:chOff x="0" y="0"/>
            <a:chExt cx="2070418" cy="25183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17" r="-10821" b="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219208" y="9495692"/>
            <a:ext cx="18507208" cy="964930"/>
            <a:chOff x="0" y="0"/>
            <a:chExt cx="24676278" cy="12865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76227" cy="1286637"/>
            </a:xfrm>
            <a:custGeom>
              <a:avLst/>
              <a:gdLst/>
              <a:ahLst/>
              <a:cxnLst/>
              <a:rect l="l" t="t" r="r" b="b"/>
              <a:pathLst>
                <a:path w="24676227" h="1286637">
                  <a:moveTo>
                    <a:pt x="0" y="0"/>
                  </a:moveTo>
                  <a:lnTo>
                    <a:pt x="24676227" y="0"/>
                  </a:lnTo>
                  <a:lnTo>
                    <a:pt x="24676227" y="1286637"/>
                  </a:lnTo>
                  <a:lnTo>
                    <a:pt x="0" y="1286637"/>
                  </a:lnTo>
                  <a:close/>
                </a:path>
              </a:pathLst>
            </a:custGeom>
            <a:solidFill>
              <a:srgbClr val="231C4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631400" y="9632242"/>
            <a:ext cx="4806001" cy="691820"/>
            <a:chOff x="0" y="0"/>
            <a:chExt cx="6408001" cy="922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8039" cy="922401"/>
            </a:xfrm>
            <a:custGeom>
              <a:avLst/>
              <a:gdLst/>
              <a:ahLst/>
              <a:cxnLst/>
              <a:rect l="l" t="t" r="r" b="b"/>
              <a:pathLst>
                <a:path w="6408039" h="922401">
                  <a:moveTo>
                    <a:pt x="0" y="0"/>
                  </a:moveTo>
                  <a:lnTo>
                    <a:pt x="6408039" y="0"/>
                  </a:lnTo>
                  <a:lnTo>
                    <a:pt x="6408039" y="922401"/>
                  </a:lnTo>
                  <a:lnTo>
                    <a:pt x="0" y="9224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269" b="-8527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631400" y="9617954"/>
            <a:ext cx="4806001" cy="706104"/>
            <a:chOff x="0" y="0"/>
            <a:chExt cx="6408001" cy="9414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1" cy="941468"/>
            </a:xfrm>
            <a:custGeom>
              <a:avLst/>
              <a:gdLst/>
              <a:ahLst/>
              <a:cxnLst/>
              <a:rect l="l" t="t" r="r" b="b"/>
              <a:pathLst>
                <a:path w="6408001" h="941468">
                  <a:moveTo>
                    <a:pt x="0" y="0"/>
                  </a:moveTo>
                  <a:lnTo>
                    <a:pt x="6408001" y="0"/>
                  </a:lnTo>
                  <a:lnTo>
                    <a:pt x="6408001" y="941468"/>
                  </a:lnTo>
                  <a:lnTo>
                    <a:pt x="0" y="9414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2622" b="-8262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9605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HACKARENA’26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54707" y="2032655"/>
            <a:ext cx="17473274" cy="282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Concept:-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SecureLocker transforms traditional lockers into intelligent, connected security systems using the power of IoT and the ESP32. It enables real-time monitoring and instant alerts for unauthorized access or unattended open states.</a:t>
            </a:r>
          </a:p>
          <a:p>
            <a:pPr algn="l">
              <a:lnSpc>
                <a:spcPts val="4759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0495" y="4825385"/>
            <a:ext cx="10367503" cy="335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Implementation:-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• </a:t>
            </a: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ESP32 + Magnetic Reed Switch + Vibration       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Sensor(SW-420)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WiFi connectivity with HTTPS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Cloud integration (Firebase)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Mobile push notification system thrugh Emails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087418" y="4825385"/>
            <a:ext cx="6461679" cy="380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How it solves the problem:-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•</a:t>
            </a: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Detects tampering instantly 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Alerts user if locker remains open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Provides real-time notifications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Maintains digital activity logs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• Enhances security in shared spaces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endParaRPr lang="en-US" sz="31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16207" y="317154"/>
            <a:ext cx="4279992" cy="1423102"/>
            <a:chOff x="0" y="0"/>
            <a:chExt cx="5706656" cy="1897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06618" cy="1897507"/>
            </a:xfrm>
            <a:custGeom>
              <a:avLst/>
              <a:gdLst/>
              <a:ahLst/>
              <a:cxnLst/>
              <a:rect l="l" t="t" r="r" b="b"/>
              <a:pathLst>
                <a:path w="5706618" h="1897507">
                  <a:moveTo>
                    <a:pt x="0" y="0"/>
                  </a:moveTo>
                  <a:lnTo>
                    <a:pt x="5706618" y="0"/>
                  </a:lnTo>
                  <a:lnTo>
                    <a:pt x="5706618" y="1897507"/>
                  </a:lnTo>
                  <a:lnTo>
                    <a:pt x="0" y="189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" b="-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0"/>
            <a:ext cx="1552813" cy="1888769"/>
            <a:chOff x="0" y="0"/>
            <a:chExt cx="2070418" cy="2518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17" r="-10821"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511341"/>
            <a:ext cx="18507208" cy="791308"/>
            <a:chOff x="0" y="0"/>
            <a:chExt cx="24676278" cy="10550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76227" cy="1055116"/>
            </a:xfrm>
            <a:custGeom>
              <a:avLst/>
              <a:gdLst/>
              <a:ahLst/>
              <a:cxnLst/>
              <a:rect l="l" t="t" r="r" b="b"/>
              <a:pathLst>
                <a:path w="24676227" h="1055116">
                  <a:moveTo>
                    <a:pt x="0" y="0"/>
                  </a:moveTo>
                  <a:lnTo>
                    <a:pt x="24676227" y="0"/>
                  </a:lnTo>
                  <a:lnTo>
                    <a:pt x="24676227" y="1055116"/>
                  </a:lnTo>
                  <a:lnTo>
                    <a:pt x="0" y="1055116"/>
                  </a:lnTo>
                  <a:close/>
                </a:path>
              </a:pathLst>
            </a:custGeom>
            <a:solidFill>
              <a:srgbClr val="231C4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850599" y="9623327"/>
            <a:ext cx="4806001" cy="567338"/>
            <a:chOff x="0" y="0"/>
            <a:chExt cx="6408001" cy="756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39" cy="756412"/>
            </a:xfrm>
            <a:custGeom>
              <a:avLst/>
              <a:gdLst/>
              <a:ahLst/>
              <a:cxnLst/>
              <a:rect l="l" t="t" r="r" b="b"/>
              <a:pathLst>
                <a:path w="6408039" h="756412">
                  <a:moveTo>
                    <a:pt x="0" y="0"/>
                  </a:moveTo>
                  <a:lnTo>
                    <a:pt x="6408039" y="0"/>
                  </a:lnTo>
                  <a:lnTo>
                    <a:pt x="6408039" y="756412"/>
                  </a:lnTo>
                  <a:lnTo>
                    <a:pt x="0" y="7564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951" b="-11495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850599" y="9609039"/>
            <a:ext cx="4806001" cy="581625"/>
            <a:chOff x="0" y="0"/>
            <a:chExt cx="6408001" cy="775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1" cy="775499"/>
            </a:xfrm>
            <a:custGeom>
              <a:avLst/>
              <a:gdLst/>
              <a:ahLst/>
              <a:cxnLst/>
              <a:rect l="l" t="t" r="r" b="b"/>
              <a:pathLst>
                <a:path w="6408001" h="775499">
                  <a:moveTo>
                    <a:pt x="0" y="0"/>
                  </a:moveTo>
                  <a:lnTo>
                    <a:pt x="6408001" y="0"/>
                  </a:lnTo>
                  <a:lnTo>
                    <a:pt x="6408001" y="775499"/>
                  </a:lnTo>
                  <a:lnTo>
                    <a:pt x="0" y="7754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1006" b="-11100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94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HACKARENA’26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2916604" y="2173548"/>
            <a:ext cx="2406421" cy="2406421"/>
          </a:xfrm>
          <a:custGeom>
            <a:avLst/>
            <a:gdLst/>
            <a:ahLst/>
            <a:cxnLst/>
            <a:rect l="l" t="t" r="r" b="b"/>
            <a:pathLst>
              <a:path w="2406421" h="2406421">
                <a:moveTo>
                  <a:pt x="0" y="0"/>
                </a:moveTo>
                <a:lnTo>
                  <a:pt x="2406421" y="0"/>
                </a:lnTo>
                <a:lnTo>
                  <a:pt x="2406421" y="2406421"/>
                </a:lnTo>
                <a:lnTo>
                  <a:pt x="0" y="240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152397" y="6074262"/>
            <a:ext cx="2359547" cy="2359547"/>
          </a:xfrm>
          <a:custGeom>
            <a:avLst/>
            <a:gdLst/>
            <a:ahLst/>
            <a:cxnLst/>
            <a:rect l="l" t="t" r="r" b="b"/>
            <a:pathLst>
              <a:path w="2359547" h="2359547">
                <a:moveTo>
                  <a:pt x="0" y="0"/>
                </a:moveTo>
                <a:lnTo>
                  <a:pt x="2359547" y="0"/>
                </a:lnTo>
                <a:lnTo>
                  <a:pt x="2359547" y="2359547"/>
                </a:lnTo>
                <a:lnTo>
                  <a:pt x="0" y="2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642603" y="5810250"/>
            <a:ext cx="2512832" cy="2512832"/>
          </a:xfrm>
          <a:custGeom>
            <a:avLst/>
            <a:gdLst/>
            <a:ahLst/>
            <a:cxnLst/>
            <a:rect l="l" t="t" r="r" b="b"/>
            <a:pathLst>
              <a:path w="2512832" h="2512832">
                <a:moveTo>
                  <a:pt x="0" y="0"/>
                </a:moveTo>
                <a:lnTo>
                  <a:pt x="2512832" y="0"/>
                </a:lnTo>
                <a:lnTo>
                  <a:pt x="2512832" y="2512832"/>
                </a:lnTo>
                <a:lnTo>
                  <a:pt x="0" y="25128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323025" y="2067218"/>
            <a:ext cx="2619082" cy="2619082"/>
          </a:xfrm>
          <a:custGeom>
            <a:avLst/>
            <a:gdLst/>
            <a:ahLst/>
            <a:cxnLst/>
            <a:rect l="l" t="t" r="r" b="b"/>
            <a:pathLst>
              <a:path w="2619082" h="2619082">
                <a:moveTo>
                  <a:pt x="0" y="0"/>
                </a:moveTo>
                <a:lnTo>
                  <a:pt x="2619082" y="0"/>
                </a:lnTo>
                <a:lnTo>
                  <a:pt x="2619082" y="2619082"/>
                </a:lnTo>
                <a:lnTo>
                  <a:pt x="0" y="26190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95686" y="1740256"/>
            <a:ext cx="12523360" cy="7607039"/>
          </a:xfrm>
          <a:custGeom>
            <a:avLst/>
            <a:gdLst/>
            <a:ahLst/>
            <a:cxnLst/>
            <a:rect l="l" t="t" r="r" b="b"/>
            <a:pathLst>
              <a:path w="12523360" h="7607039">
                <a:moveTo>
                  <a:pt x="0" y="0"/>
                </a:moveTo>
                <a:lnTo>
                  <a:pt x="12523361" y="0"/>
                </a:lnTo>
                <a:lnTo>
                  <a:pt x="12523361" y="7607039"/>
                </a:lnTo>
                <a:lnTo>
                  <a:pt x="0" y="76070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4504" b="-7320"/>
            </a:stretch>
          </a:blipFill>
          <a:ln cap="sq">
            <a:noFill/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3994299" y="561975"/>
            <a:ext cx="8209122" cy="8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52397" y="4781550"/>
            <a:ext cx="2170628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ESP32-DevkitC-32E V4 -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Latest ESP32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Development board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941102" y="4781550"/>
            <a:ext cx="1915835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FLUX Magnetic Reed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Switch (Door sensor)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B100076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16207" y="8414759"/>
            <a:ext cx="152090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Vibration Sensor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module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95122" y="8529059"/>
            <a:ext cx="140779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Buzzer module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92952" y="1944787"/>
            <a:ext cx="2037040" cy="147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43"/>
              </a:lnSpc>
            </a:pPr>
            <a:r>
              <a:rPr lang="en-US" sz="135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Security Layer</a:t>
            </a:r>
          </a:p>
          <a:p>
            <a:pPr algn="r">
              <a:lnSpc>
                <a:spcPts val="1943"/>
              </a:lnSpc>
            </a:pPr>
            <a:r>
              <a:rPr lang="en-US" sz="135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HTTPS, Firebase</a:t>
            </a:r>
          </a:p>
          <a:p>
            <a:pPr algn="r">
              <a:lnSpc>
                <a:spcPts val="1943"/>
              </a:lnSpc>
            </a:pPr>
            <a:r>
              <a:rPr lang="en-US" sz="1351">
                <a:solidFill>
                  <a:srgbClr val="000000"/>
                </a:solidFill>
                <a:latin typeface="Ruda Black"/>
                <a:ea typeface="Ruda Black"/>
                <a:cs typeface="Ruda Black"/>
                <a:sym typeface="Ruda Black"/>
              </a:rPr>
              <a:t>Authentication, and</a:t>
            </a:r>
          </a:p>
          <a:p>
            <a:pPr algn="r">
              <a:lnSpc>
                <a:spcPts val="1793"/>
              </a:lnSpc>
            </a:pPr>
            <a:r>
              <a:rPr lang="en-US" sz="1247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token-based</a:t>
            </a:r>
          </a:p>
          <a:p>
            <a:pPr algn="r">
              <a:lnSpc>
                <a:spcPts val="2298"/>
              </a:lnSpc>
            </a:pPr>
            <a:r>
              <a:rPr lang="en-US" sz="15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authentication.</a:t>
            </a:r>
          </a:p>
          <a:p>
            <a:pPr algn="r">
              <a:lnSpc>
                <a:spcPts val="2092"/>
              </a:lnSpc>
            </a:pPr>
            <a:r>
              <a:rPr lang="en-US" sz="1455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Sufficient protection for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38869" y="3563849"/>
            <a:ext cx="942975" cy="232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35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prototypes.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33743" y="8013732"/>
            <a:ext cx="3033712" cy="4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2"/>
              </a:lnSpc>
            </a:pPr>
            <a:r>
              <a:rPr lang="en-US" sz="2616" spc="10">
                <a:solidFill>
                  <a:srgbClr val="231C4F"/>
                </a:solidFill>
                <a:latin typeface="Arial MT Pro"/>
                <a:ea typeface="Arial MT Pro"/>
                <a:cs typeface="Arial MT Pro"/>
                <a:sym typeface="Arial MT Pro"/>
              </a:rPr>
              <a:t>Project Components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71599" y="4560539"/>
            <a:ext cx="703421" cy="232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351">
                <a:solidFill>
                  <a:srgbClr val="000000"/>
                </a:solidFill>
                <a:latin typeface="Ruda Black"/>
                <a:ea typeface="Ruda Black"/>
                <a:cs typeface="Ruda Black"/>
                <a:sym typeface="Ruda Black"/>
              </a:rPr>
              <a:t>WEB App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40843" y="4982233"/>
            <a:ext cx="1991320" cy="89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93"/>
              </a:lnSpc>
            </a:pPr>
            <a:r>
              <a:rPr lang="en-US" sz="135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React Native framework,</a:t>
            </a:r>
          </a:p>
          <a:p>
            <a:pPr algn="r">
              <a:lnSpc>
                <a:spcPts val="1823"/>
              </a:lnSpc>
            </a:pPr>
            <a:r>
              <a:rPr lang="en-US" sz="1455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login, dashboard, alert,</a:t>
            </a:r>
          </a:p>
          <a:p>
            <a:pPr algn="r">
              <a:lnSpc>
                <a:spcPts val="1823"/>
              </a:lnSpc>
            </a:pPr>
            <a:r>
              <a:rPr lang="en-US" sz="1455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and history screens.</a:t>
            </a:r>
          </a:p>
          <a:p>
            <a:pPr algn="r">
              <a:lnSpc>
                <a:spcPts val="1823"/>
              </a:lnSpc>
            </a:pPr>
            <a:r>
              <a:rPr lang="en-US" sz="1455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59427" y="6883993"/>
            <a:ext cx="1371600" cy="30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5"/>
              </a:lnSpc>
            </a:pPr>
            <a:r>
              <a:rPr lang="en-US" sz="1582" spc="-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Cloud Backend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71124" y="7351859"/>
            <a:ext cx="1847850" cy="152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5"/>
              </a:lnSpc>
            </a:pPr>
            <a:r>
              <a:rPr lang="en-US" sz="1247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Firebase Realtime</a:t>
            </a:r>
          </a:p>
          <a:p>
            <a:pPr algn="r">
              <a:lnSpc>
                <a:spcPts val="1793"/>
              </a:lnSpc>
            </a:pPr>
            <a:r>
              <a:rPr lang="en-US" sz="1351">
                <a:solidFill>
                  <a:srgbClr val="000000"/>
                </a:solidFill>
                <a:latin typeface="Ruda Black"/>
                <a:ea typeface="Ruda Black"/>
                <a:cs typeface="Ruda Black"/>
                <a:sym typeface="Ruda Black"/>
              </a:rPr>
              <a:t>Database, Cloud</a:t>
            </a:r>
          </a:p>
          <a:p>
            <a:pPr algn="r">
              <a:lnSpc>
                <a:spcPts val="1931"/>
              </a:lnSpc>
            </a:pPr>
            <a:r>
              <a:rPr lang="en-US" sz="1455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Messaging,</a:t>
            </a:r>
          </a:p>
          <a:p>
            <a:pPr algn="r">
              <a:lnSpc>
                <a:spcPts val="1793"/>
              </a:lnSpc>
            </a:pPr>
            <a:r>
              <a:rPr lang="en-US" sz="135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Authentication, and</a:t>
            </a:r>
          </a:p>
          <a:p>
            <a:pPr algn="r">
              <a:lnSpc>
                <a:spcPts val="1931"/>
              </a:lnSpc>
            </a:pPr>
            <a:r>
              <a:rPr lang="en-US" sz="1455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Hosting. Serverless</a:t>
            </a:r>
          </a:p>
          <a:p>
            <a:pPr algn="r">
              <a:lnSpc>
                <a:spcPts val="1793"/>
              </a:lnSpc>
            </a:pPr>
            <a:r>
              <a:rPr lang="en-US" sz="135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backend with real-time</a:t>
            </a:r>
          </a:p>
          <a:p>
            <a:pPr algn="r">
              <a:lnSpc>
                <a:spcPts val="1517"/>
              </a:lnSpc>
            </a:pPr>
            <a:r>
              <a:rPr lang="en-US" sz="11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data.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85171" y="3495174"/>
            <a:ext cx="2105025" cy="152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455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Hardware Layer</a:t>
            </a:r>
          </a:p>
          <a:p>
            <a:pPr algn="l">
              <a:lnSpc>
                <a:spcPts val="1826"/>
              </a:lnSpc>
            </a:pPr>
            <a:r>
              <a:rPr lang="en-US" sz="135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ESP32 board, reed</a:t>
            </a:r>
          </a:p>
          <a:p>
            <a:pPr algn="l">
              <a:lnSpc>
                <a:spcPts val="2141"/>
              </a:lnSpc>
            </a:pPr>
            <a:r>
              <a:rPr lang="en-US" sz="1583" spc="-2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switch, vibration sensor,</a:t>
            </a:r>
          </a:p>
          <a:p>
            <a:pPr algn="l">
              <a:lnSpc>
                <a:spcPts val="2141"/>
              </a:lnSpc>
            </a:pPr>
            <a:r>
              <a:rPr lang="en-US" sz="1583" spc="-2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buzzer, and power</a:t>
            </a:r>
          </a:p>
          <a:p>
            <a:pPr algn="l">
              <a:lnSpc>
                <a:spcPts val="1967"/>
              </a:lnSpc>
            </a:pPr>
            <a:r>
              <a:rPr lang="en-US" sz="1455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supply. Low-cost and</a:t>
            </a:r>
          </a:p>
          <a:p>
            <a:pPr algn="l">
              <a:lnSpc>
                <a:spcPts val="2108"/>
              </a:lnSpc>
            </a:pPr>
            <a:r>
              <a:rPr lang="en-US" sz="1559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easily available.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74616" y="5824249"/>
            <a:ext cx="2047875" cy="156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57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Embedded</a:t>
            </a:r>
          </a:p>
          <a:p>
            <a:pPr algn="l">
              <a:lnSpc>
                <a:spcPts val="2128"/>
              </a:lnSpc>
            </a:pPr>
            <a:r>
              <a:rPr lang="en-US" sz="157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</a:t>
            </a:r>
          </a:p>
          <a:p>
            <a:pPr algn="l">
              <a:lnSpc>
                <a:spcPts val="1828"/>
              </a:lnSpc>
            </a:pPr>
            <a:r>
              <a:rPr lang="en-US" sz="135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Arduino IDE, C/C++, WiFi</a:t>
            </a:r>
          </a:p>
          <a:p>
            <a:pPr algn="l">
              <a:lnSpc>
                <a:spcPts val="1968"/>
              </a:lnSpc>
            </a:pPr>
            <a:r>
              <a:rPr lang="en-US" sz="1455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library, and HTTP client</a:t>
            </a:r>
          </a:p>
          <a:p>
            <a:pPr algn="l">
              <a:lnSpc>
                <a:spcPts val="2163"/>
              </a:lnSpc>
            </a:pPr>
            <a:r>
              <a:rPr lang="en-US" sz="1598" spc="-1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library. Simple coding</a:t>
            </a:r>
          </a:p>
          <a:p>
            <a:pPr algn="l">
              <a:lnSpc>
                <a:spcPts val="2163"/>
              </a:lnSpc>
            </a:pPr>
            <a:r>
              <a:rPr lang="en-US" sz="1598" spc="-1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and fast debugging.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40229" y="9364250"/>
            <a:ext cx="1476375" cy="24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2"/>
              </a:lnSpc>
            </a:pPr>
            <a:r>
              <a:rPr lang="en-US" sz="1237" spc="99">
                <a:solidFill>
                  <a:srgbClr val="B4B4B4"/>
                </a:solidFill>
                <a:latin typeface="Arial MT Pro"/>
                <a:ea typeface="Arial MT Pro"/>
                <a:cs typeface="Arial MT Pro"/>
                <a:sym typeface="Arial MT Pro"/>
              </a:rPr>
              <a:t>Made with Napkin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16207" y="317154"/>
            <a:ext cx="4279992" cy="1423102"/>
            <a:chOff x="0" y="0"/>
            <a:chExt cx="5706656" cy="1897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06618" cy="1897507"/>
            </a:xfrm>
            <a:custGeom>
              <a:avLst/>
              <a:gdLst/>
              <a:ahLst/>
              <a:cxnLst/>
              <a:rect l="l" t="t" r="r" b="b"/>
              <a:pathLst>
                <a:path w="5706618" h="1897507">
                  <a:moveTo>
                    <a:pt x="0" y="0"/>
                  </a:moveTo>
                  <a:lnTo>
                    <a:pt x="5706618" y="0"/>
                  </a:lnTo>
                  <a:lnTo>
                    <a:pt x="5706618" y="1897507"/>
                  </a:lnTo>
                  <a:lnTo>
                    <a:pt x="0" y="189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" b="-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0"/>
            <a:ext cx="1552813" cy="1888769"/>
            <a:chOff x="0" y="0"/>
            <a:chExt cx="2070418" cy="2518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17" r="-10821"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177956" y="9539326"/>
            <a:ext cx="18507208" cy="791308"/>
            <a:chOff x="0" y="0"/>
            <a:chExt cx="24676278" cy="10550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76227" cy="1055116"/>
            </a:xfrm>
            <a:custGeom>
              <a:avLst/>
              <a:gdLst/>
              <a:ahLst/>
              <a:cxnLst/>
              <a:rect l="l" t="t" r="r" b="b"/>
              <a:pathLst>
                <a:path w="24676227" h="1055116">
                  <a:moveTo>
                    <a:pt x="0" y="0"/>
                  </a:moveTo>
                  <a:lnTo>
                    <a:pt x="24676227" y="0"/>
                  </a:lnTo>
                  <a:lnTo>
                    <a:pt x="24676227" y="1055116"/>
                  </a:lnTo>
                  <a:lnTo>
                    <a:pt x="0" y="1055116"/>
                  </a:lnTo>
                  <a:close/>
                </a:path>
              </a:pathLst>
            </a:custGeom>
            <a:solidFill>
              <a:srgbClr val="231C4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672644" y="9651321"/>
            <a:ext cx="4806001" cy="567338"/>
            <a:chOff x="0" y="0"/>
            <a:chExt cx="6408001" cy="756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39" cy="756412"/>
            </a:xfrm>
            <a:custGeom>
              <a:avLst/>
              <a:gdLst/>
              <a:ahLst/>
              <a:cxnLst/>
              <a:rect l="l" t="t" r="r" b="b"/>
              <a:pathLst>
                <a:path w="6408039" h="756412">
                  <a:moveTo>
                    <a:pt x="0" y="0"/>
                  </a:moveTo>
                  <a:lnTo>
                    <a:pt x="6408039" y="0"/>
                  </a:lnTo>
                  <a:lnTo>
                    <a:pt x="6408039" y="756412"/>
                  </a:lnTo>
                  <a:lnTo>
                    <a:pt x="0" y="7564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951" b="-11495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672644" y="9637033"/>
            <a:ext cx="4806001" cy="581625"/>
            <a:chOff x="0" y="0"/>
            <a:chExt cx="6408001" cy="775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1" cy="775499"/>
            </a:xfrm>
            <a:custGeom>
              <a:avLst/>
              <a:gdLst/>
              <a:ahLst/>
              <a:cxnLst/>
              <a:rect l="l" t="t" r="r" b="b"/>
              <a:pathLst>
                <a:path w="6408001" h="775499">
                  <a:moveTo>
                    <a:pt x="0" y="0"/>
                  </a:moveTo>
                  <a:lnTo>
                    <a:pt x="6408001" y="0"/>
                  </a:lnTo>
                  <a:lnTo>
                    <a:pt x="6408001" y="775499"/>
                  </a:lnTo>
                  <a:lnTo>
                    <a:pt x="0" y="7754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1006" b="-11100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94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HACKARENA’26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689379" y="1888769"/>
            <a:ext cx="16909241" cy="7369531"/>
          </a:xfrm>
          <a:custGeom>
            <a:avLst/>
            <a:gdLst/>
            <a:ahLst/>
            <a:cxnLst/>
            <a:rect l="l" t="t" r="r" b="b"/>
            <a:pathLst>
              <a:path w="16909241" h="7369531">
                <a:moveTo>
                  <a:pt x="0" y="0"/>
                </a:moveTo>
                <a:lnTo>
                  <a:pt x="16909242" y="0"/>
                </a:lnTo>
                <a:lnTo>
                  <a:pt x="16909242" y="7369531"/>
                </a:lnTo>
                <a:lnTo>
                  <a:pt x="0" y="7369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415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699189" y="2950746"/>
            <a:ext cx="836110" cy="836110"/>
          </a:xfrm>
          <a:custGeom>
            <a:avLst/>
            <a:gdLst/>
            <a:ahLst/>
            <a:cxnLst/>
            <a:rect l="l" t="t" r="r" b="b"/>
            <a:pathLst>
              <a:path w="836110" h="836110">
                <a:moveTo>
                  <a:pt x="0" y="0"/>
                </a:moveTo>
                <a:lnTo>
                  <a:pt x="836110" y="0"/>
                </a:lnTo>
                <a:lnTo>
                  <a:pt x="836110" y="836111"/>
                </a:lnTo>
                <a:lnTo>
                  <a:pt x="0" y="8361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163838" y="4546972"/>
            <a:ext cx="417675" cy="417675"/>
          </a:xfrm>
          <a:custGeom>
            <a:avLst/>
            <a:gdLst/>
            <a:ahLst/>
            <a:cxnLst/>
            <a:rect l="l" t="t" r="r" b="b"/>
            <a:pathLst>
              <a:path w="417675" h="417675">
                <a:moveTo>
                  <a:pt x="0" y="0"/>
                </a:moveTo>
                <a:lnTo>
                  <a:pt x="417675" y="0"/>
                </a:lnTo>
                <a:lnTo>
                  <a:pt x="417675" y="417675"/>
                </a:lnTo>
                <a:lnTo>
                  <a:pt x="0" y="4176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401142" y="2035099"/>
            <a:ext cx="1114333" cy="1114333"/>
          </a:xfrm>
          <a:custGeom>
            <a:avLst/>
            <a:gdLst/>
            <a:ahLst/>
            <a:cxnLst/>
            <a:rect l="l" t="t" r="r" b="b"/>
            <a:pathLst>
              <a:path w="1114333" h="1114333">
                <a:moveTo>
                  <a:pt x="0" y="0"/>
                </a:moveTo>
                <a:lnTo>
                  <a:pt x="1114333" y="0"/>
                </a:lnTo>
                <a:lnTo>
                  <a:pt x="1114333" y="1114333"/>
                </a:lnTo>
                <a:lnTo>
                  <a:pt x="0" y="11143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752426" y="2950746"/>
            <a:ext cx="555070" cy="567572"/>
          </a:xfrm>
          <a:custGeom>
            <a:avLst/>
            <a:gdLst/>
            <a:ahLst/>
            <a:cxnLst/>
            <a:rect l="l" t="t" r="r" b="b"/>
            <a:pathLst>
              <a:path w="555070" h="567572">
                <a:moveTo>
                  <a:pt x="0" y="0"/>
                </a:moveTo>
                <a:lnTo>
                  <a:pt x="555071" y="0"/>
                </a:lnTo>
                <a:lnTo>
                  <a:pt x="555071" y="567572"/>
                </a:lnTo>
                <a:lnTo>
                  <a:pt x="0" y="567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837376" y="5588623"/>
            <a:ext cx="940241" cy="940241"/>
          </a:xfrm>
          <a:custGeom>
            <a:avLst/>
            <a:gdLst/>
            <a:ahLst/>
            <a:cxnLst/>
            <a:rect l="l" t="t" r="r" b="b"/>
            <a:pathLst>
              <a:path w="940241" h="940241">
                <a:moveTo>
                  <a:pt x="0" y="0"/>
                </a:moveTo>
                <a:lnTo>
                  <a:pt x="940241" y="0"/>
                </a:lnTo>
                <a:lnTo>
                  <a:pt x="940241" y="940240"/>
                </a:lnTo>
                <a:lnTo>
                  <a:pt x="0" y="9402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962942" y="5402847"/>
            <a:ext cx="876400" cy="876400"/>
          </a:xfrm>
          <a:custGeom>
            <a:avLst/>
            <a:gdLst/>
            <a:ahLst/>
            <a:cxnLst/>
            <a:rect l="l" t="t" r="r" b="b"/>
            <a:pathLst>
              <a:path w="876400" h="876400">
                <a:moveTo>
                  <a:pt x="0" y="0"/>
                </a:moveTo>
                <a:lnTo>
                  <a:pt x="876400" y="0"/>
                </a:lnTo>
                <a:lnTo>
                  <a:pt x="876400" y="876400"/>
                </a:lnTo>
                <a:lnTo>
                  <a:pt x="0" y="876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348450" y="288579"/>
            <a:ext cx="7500819" cy="1234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7"/>
              </a:lnSpc>
            </a:pPr>
            <a:r>
              <a:rPr lang="en-US" sz="396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WORKFLOW AND SYSTEM ARCHITECTURE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43039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2404500" y="2061275"/>
            <a:ext cx="790575" cy="27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597" spc="33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Sensors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17857" y="2560658"/>
            <a:ext cx="2067759" cy="46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6"/>
              </a:lnSpc>
            </a:pPr>
            <a:r>
              <a:rPr lang="en-US" sz="1656" spc="-9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Magnetic Reed Switch</a:t>
            </a:r>
          </a:p>
          <a:p>
            <a:pPr algn="ctr">
              <a:lnSpc>
                <a:spcPts val="1684"/>
              </a:lnSpc>
            </a:pPr>
            <a:r>
              <a:rPr lang="en-US" sz="1606" spc="17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Vibrational Sensors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2590" y="3517149"/>
            <a:ext cx="1409700" cy="23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1493" spc="58">
                <a:solidFill>
                  <a:srgbClr val="484E56"/>
                </a:solidFill>
                <a:latin typeface="Sniglet"/>
                <a:ea typeface="Sniglet"/>
                <a:cs typeface="Sniglet"/>
                <a:sym typeface="Sniglet"/>
              </a:rPr>
              <a:t>Microcontroller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0256" y="3914805"/>
            <a:ext cx="657225" cy="27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1633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ESP32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30048" y="4546277"/>
            <a:ext cx="723900" cy="27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 spc="178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ALERT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17467" y="4991780"/>
            <a:ext cx="1162050" cy="285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525" spc="53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Buzzer Alert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78484" y="5238044"/>
            <a:ext cx="1504950" cy="298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1735" spc="-13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Light Blink Alert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02745" y="3704503"/>
            <a:ext cx="1495425" cy="68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9"/>
              </a:lnSpc>
            </a:pPr>
            <a:r>
              <a:rPr lang="en-US" sz="1559" spc="38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DEVICE LAYER</a:t>
            </a:r>
          </a:p>
          <a:p>
            <a:pPr algn="ctr">
              <a:lnSpc>
                <a:spcPts val="1561"/>
              </a:lnSpc>
            </a:pPr>
            <a:r>
              <a:rPr lang="en-US" sz="1330">
                <a:solidFill>
                  <a:srgbClr val="484E56"/>
                </a:solidFill>
                <a:latin typeface="Nunito Bold"/>
                <a:ea typeface="Nunito Bold"/>
                <a:cs typeface="Nunito Bold"/>
                <a:sym typeface="Nunito Bold"/>
              </a:rPr>
              <a:t>(Locker</a:t>
            </a:r>
          </a:p>
          <a:p>
            <a:pPr algn="ctr">
              <a:lnSpc>
                <a:spcPts val="1958"/>
              </a:lnSpc>
            </a:pPr>
            <a:r>
              <a:rPr lang="en-US" sz="1669" spc="-25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Hardware)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57204" y="3597171"/>
            <a:ext cx="1019175" cy="44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"/>
              </a:lnSpc>
            </a:pPr>
            <a:r>
              <a:rPr lang="en-US" sz="2007">
                <a:solidFill>
                  <a:srgbClr val="484E56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Data</a:t>
            </a:r>
          </a:p>
          <a:p>
            <a:pPr algn="ctr">
              <a:lnSpc>
                <a:spcPts val="1462"/>
              </a:lnSpc>
            </a:pPr>
            <a:r>
              <a:rPr lang="en-US" sz="1407" spc="90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Generation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73926" y="2203923"/>
            <a:ext cx="1543050" cy="4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4"/>
              </a:lnSpc>
            </a:pPr>
            <a:r>
              <a:rPr lang="en-US" sz="1446" spc="101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WIFI</a:t>
            </a:r>
          </a:p>
          <a:p>
            <a:pPr algn="ctr">
              <a:lnSpc>
                <a:spcPts val="1644"/>
              </a:lnSpc>
            </a:pPr>
            <a:r>
              <a:rPr lang="en-US" sz="1446" spc="101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CONNECTIVITY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908634" y="2370914"/>
            <a:ext cx="1691640" cy="284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6"/>
              </a:lnSpc>
            </a:pPr>
            <a:r>
              <a:rPr lang="en-US" sz="1540" spc="35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HTTPS Encryption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18311" y="3251455"/>
            <a:ext cx="2352675" cy="22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sz="1330" spc="43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EDGE PROCESSING LAYER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15392" y="3414676"/>
            <a:ext cx="571500" cy="26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3"/>
              </a:lnSpc>
            </a:pPr>
            <a:r>
              <a:rPr lang="en-US" sz="1381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ESP32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97237" y="3507447"/>
            <a:ext cx="428625" cy="26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598">
                <a:solidFill>
                  <a:srgbClr val="484E56"/>
                </a:solidFill>
                <a:latin typeface="PT Sans"/>
                <a:ea typeface="PT Sans"/>
                <a:cs typeface="PT Sans"/>
                <a:sym typeface="PT Sans"/>
              </a:rPr>
              <a:t>Data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15352" y="3484561"/>
            <a:ext cx="1771650" cy="43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4"/>
              </a:lnSpc>
            </a:pPr>
            <a:r>
              <a:rPr lang="en-US" sz="1487" spc="66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COMMUNICATION</a:t>
            </a:r>
          </a:p>
          <a:p>
            <a:pPr algn="ctr">
              <a:lnSpc>
                <a:spcPts val="1689"/>
              </a:lnSpc>
            </a:pPr>
            <a:r>
              <a:rPr lang="en-US" sz="1519" spc="50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LAYER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90039" y="3792682"/>
            <a:ext cx="4086225" cy="258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6"/>
              </a:lnSpc>
            </a:pPr>
            <a:r>
              <a:rPr lang="en-US" sz="1461" spc="55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Continuous sensor monitoring Enterpretation_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04814" y="4043360"/>
            <a:ext cx="2352675" cy="7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380" spc="6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Event detection logic</a:t>
            </a:r>
          </a:p>
          <a:p>
            <a:pPr algn="ctr">
              <a:lnSpc>
                <a:spcPts val="1568"/>
              </a:lnSpc>
            </a:pPr>
            <a:r>
              <a:rPr lang="en-US" sz="1406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Timer for open-door condition</a:t>
            </a:r>
          </a:p>
          <a:p>
            <a:pPr algn="ctr">
              <a:lnSpc>
                <a:spcPts val="1489"/>
              </a:lnSpc>
            </a:pPr>
            <a:r>
              <a:rPr lang="en-US" sz="1335" spc="16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Data encryption</a:t>
            </a:r>
          </a:p>
          <a:p>
            <a:pPr algn="ctr">
              <a:lnSpc>
                <a:spcPts val="1489"/>
              </a:lnSpc>
            </a:pPr>
            <a:r>
              <a:rPr lang="en-US" sz="1335" spc="16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Packet creation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20531" y="4172733"/>
            <a:ext cx="987266" cy="43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4"/>
              </a:lnSpc>
            </a:pPr>
            <a:r>
              <a:rPr lang="en-US" sz="1652" spc="-9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Protocols:-</a:t>
            </a:r>
          </a:p>
          <a:p>
            <a:pPr algn="ctr">
              <a:lnSpc>
                <a:spcPts val="1609"/>
              </a:lnSpc>
            </a:pPr>
            <a:r>
              <a:rPr lang="en-US" sz="1450" spc="97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 AI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909738" y="3828154"/>
            <a:ext cx="1962150" cy="42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0"/>
              </a:lnSpc>
            </a:pPr>
            <a:r>
              <a:rPr lang="en-US" sz="1550" spc="40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Transmission to</a:t>
            </a:r>
          </a:p>
          <a:p>
            <a:pPr algn="ctr">
              <a:lnSpc>
                <a:spcPts val="1653"/>
              </a:lnSpc>
            </a:pPr>
            <a:r>
              <a:rPr lang="en-US" sz="1562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Cloud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72058" y="5192341"/>
            <a:ext cx="1704975" cy="265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</a:pPr>
            <a:r>
              <a:rPr lang="en-US" sz="1533" spc="33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Transmission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56600" y="6151426"/>
            <a:ext cx="1219200" cy="44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662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Forced Entry</a:t>
            </a:r>
          </a:p>
          <a:p>
            <a:pPr algn="ctr">
              <a:lnSpc>
                <a:spcPts val="1756"/>
              </a:lnSpc>
            </a:pPr>
            <a:r>
              <a:rPr lang="en-US" sz="1637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Detected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37434" y="8009821"/>
            <a:ext cx="1600200" cy="273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sz="1596" spc="15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Locker Left Open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104122" y="6296172"/>
            <a:ext cx="2780943" cy="45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1"/>
              </a:lnSpc>
            </a:pPr>
            <a:r>
              <a:rPr lang="en-US" sz="1499" spc="67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WEB APP INTERFACE(USER</a:t>
            </a:r>
          </a:p>
          <a:p>
            <a:pPr algn="ctr">
              <a:lnSpc>
                <a:spcPts val="1721"/>
              </a:lnSpc>
            </a:pPr>
            <a:r>
              <a:rPr lang="en-US" sz="1499" spc="67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SIDE)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74793" y="6379653"/>
            <a:ext cx="1219200" cy="44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6"/>
              </a:lnSpc>
            </a:pPr>
            <a:r>
              <a:rPr lang="en-US" sz="1604" spc="12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Processed</a:t>
            </a:r>
          </a:p>
          <a:p>
            <a:pPr algn="ctr">
              <a:lnSpc>
                <a:spcPts val="1713"/>
              </a:lnSpc>
            </a:pPr>
            <a:r>
              <a:rPr lang="en-US" sz="1592" spc="14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information +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601557" y="6797203"/>
            <a:ext cx="55245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Alerts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236157" y="6985089"/>
            <a:ext cx="2257425" cy="29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0"/>
              </a:lnSpc>
            </a:pPr>
            <a:r>
              <a:rPr lang="en-US" sz="1564" spc="23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Locker status monitoring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35282" y="6799261"/>
            <a:ext cx="2038350" cy="26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1"/>
              </a:lnSpc>
            </a:pPr>
            <a:r>
              <a:rPr lang="en-US" sz="1515" spc="46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Real-time notifications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233734" y="7225983"/>
            <a:ext cx="1790700" cy="41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535" spc="49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Alert history</a:t>
            </a:r>
          </a:p>
          <a:p>
            <a:pPr algn="l">
              <a:lnSpc>
                <a:spcPts val="1056"/>
              </a:lnSpc>
            </a:pPr>
            <a:r>
              <a:rPr lang="en-US" sz="807" spc="42">
                <a:solidFill>
                  <a:srgbClr val="484E56"/>
                </a:solidFill>
                <a:latin typeface="HK Modular"/>
                <a:ea typeface="HK Modular"/>
                <a:cs typeface="HK Modular"/>
                <a:sym typeface="HK Modular"/>
              </a:rPr>
              <a:t>User authentication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156500" y="5373509"/>
            <a:ext cx="1481614" cy="295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9"/>
              </a:lnSpc>
            </a:pPr>
            <a:r>
              <a:rPr lang="en-US" sz="1506" spc="63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Firebase Broker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962082" y="6535871"/>
            <a:ext cx="2143125" cy="108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498" spc="76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CLOUD/BACKEND</a:t>
            </a:r>
          </a:p>
          <a:p>
            <a:pPr algn="ctr">
              <a:lnSpc>
                <a:spcPts val="1653"/>
              </a:lnSpc>
            </a:pPr>
            <a:r>
              <a:rPr lang="en-US" sz="1467" spc="49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LAYER</a:t>
            </a:r>
          </a:p>
          <a:p>
            <a:pPr algn="ctr">
              <a:lnSpc>
                <a:spcPts val="1770"/>
              </a:lnSpc>
            </a:pPr>
            <a:r>
              <a:rPr lang="en-US" sz="1570" spc="31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Receives locker events</a:t>
            </a:r>
          </a:p>
          <a:p>
            <a:pPr algn="ctr">
              <a:lnSpc>
                <a:spcPts val="1796"/>
              </a:lnSpc>
            </a:pPr>
            <a:r>
              <a:rPr lang="en-US" sz="1593" spc="7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Stores history Triggers</a:t>
            </a:r>
          </a:p>
          <a:p>
            <a:pPr algn="ctr">
              <a:lnSpc>
                <a:spcPts val="1796"/>
              </a:lnSpc>
            </a:pPr>
            <a:r>
              <a:rPr lang="en-US" sz="1593" spc="7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alerts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501858" y="6803505"/>
            <a:ext cx="1647825" cy="41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5"/>
              </a:lnSpc>
            </a:pPr>
            <a:r>
              <a:rPr lang="en-US" sz="1630" spc="6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DataBase Activity</a:t>
            </a:r>
          </a:p>
          <a:p>
            <a:pPr algn="ctr">
              <a:lnSpc>
                <a:spcPts val="1562"/>
              </a:lnSpc>
            </a:pPr>
            <a:r>
              <a:rPr lang="en-US" sz="1442" spc="67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LOGS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194180" y="8249046"/>
            <a:ext cx="1562100" cy="416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4"/>
              </a:lnSpc>
            </a:pPr>
            <a:r>
              <a:rPr lang="en-US" sz="1492" spc="59">
                <a:solidFill>
                  <a:srgbClr val="484E5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Push Notification</a:t>
            </a:r>
          </a:p>
          <a:p>
            <a:pPr algn="ctr">
              <a:lnSpc>
                <a:spcPts val="1672"/>
              </a:lnSpc>
            </a:pPr>
            <a:r>
              <a:rPr lang="en-US" sz="1566" spc="15">
                <a:solidFill>
                  <a:srgbClr val="484E56"/>
                </a:solidFill>
                <a:latin typeface="Arial MT Pro"/>
                <a:ea typeface="Arial MT Pro"/>
                <a:cs typeface="Arial MT Pro"/>
                <a:sym typeface="Arial MT Pro"/>
              </a:rPr>
              <a:t>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16207" y="317154"/>
            <a:ext cx="4279992" cy="1423102"/>
            <a:chOff x="0" y="0"/>
            <a:chExt cx="5706656" cy="1897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06618" cy="1897507"/>
            </a:xfrm>
            <a:custGeom>
              <a:avLst/>
              <a:gdLst/>
              <a:ahLst/>
              <a:cxnLst/>
              <a:rect l="l" t="t" r="r" b="b"/>
              <a:pathLst>
                <a:path w="5706618" h="1897507">
                  <a:moveTo>
                    <a:pt x="0" y="0"/>
                  </a:moveTo>
                  <a:lnTo>
                    <a:pt x="5706618" y="0"/>
                  </a:lnTo>
                  <a:lnTo>
                    <a:pt x="5706618" y="1897507"/>
                  </a:lnTo>
                  <a:lnTo>
                    <a:pt x="0" y="189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" b="-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0"/>
            <a:ext cx="1552813" cy="1888769"/>
            <a:chOff x="0" y="0"/>
            <a:chExt cx="2070418" cy="2518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17" r="-10821"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177956" y="9539326"/>
            <a:ext cx="18507208" cy="791308"/>
            <a:chOff x="0" y="0"/>
            <a:chExt cx="24676278" cy="10550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76227" cy="1055116"/>
            </a:xfrm>
            <a:custGeom>
              <a:avLst/>
              <a:gdLst/>
              <a:ahLst/>
              <a:cxnLst/>
              <a:rect l="l" t="t" r="r" b="b"/>
              <a:pathLst>
                <a:path w="24676227" h="1055116">
                  <a:moveTo>
                    <a:pt x="0" y="0"/>
                  </a:moveTo>
                  <a:lnTo>
                    <a:pt x="24676227" y="0"/>
                  </a:lnTo>
                  <a:lnTo>
                    <a:pt x="24676227" y="1055116"/>
                  </a:lnTo>
                  <a:lnTo>
                    <a:pt x="0" y="1055116"/>
                  </a:lnTo>
                  <a:close/>
                </a:path>
              </a:pathLst>
            </a:custGeom>
            <a:solidFill>
              <a:srgbClr val="231C4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672644" y="9651321"/>
            <a:ext cx="4806001" cy="567338"/>
            <a:chOff x="0" y="0"/>
            <a:chExt cx="6408001" cy="756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39" cy="756412"/>
            </a:xfrm>
            <a:custGeom>
              <a:avLst/>
              <a:gdLst/>
              <a:ahLst/>
              <a:cxnLst/>
              <a:rect l="l" t="t" r="r" b="b"/>
              <a:pathLst>
                <a:path w="6408039" h="756412">
                  <a:moveTo>
                    <a:pt x="0" y="0"/>
                  </a:moveTo>
                  <a:lnTo>
                    <a:pt x="6408039" y="0"/>
                  </a:lnTo>
                  <a:lnTo>
                    <a:pt x="6408039" y="756412"/>
                  </a:lnTo>
                  <a:lnTo>
                    <a:pt x="0" y="7564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951" b="-11495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672644" y="9637033"/>
            <a:ext cx="4806001" cy="581625"/>
            <a:chOff x="0" y="0"/>
            <a:chExt cx="6408001" cy="775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1" cy="775499"/>
            </a:xfrm>
            <a:custGeom>
              <a:avLst/>
              <a:gdLst/>
              <a:ahLst/>
              <a:cxnLst/>
              <a:rect l="l" t="t" r="r" b="b"/>
              <a:pathLst>
                <a:path w="6408001" h="775499">
                  <a:moveTo>
                    <a:pt x="0" y="0"/>
                  </a:moveTo>
                  <a:lnTo>
                    <a:pt x="6408001" y="0"/>
                  </a:lnTo>
                  <a:lnTo>
                    <a:pt x="6408001" y="775499"/>
                  </a:lnTo>
                  <a:lnTo>
                    <a:pt x="0" y="7754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1006" b="-11100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94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HACKARENA’26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44139" y="2497577"/>
            <a:ext cx="4222851" cy="5674270"/>
          </a:xfrm>
          <a:custGeom>
            <a:avLst/>
            <a:gdLst/>
            <a:ahLst/>
            <a:cxnLst/>
            <a:rect l="l" t="t" r="r" b="b"/>
            <a:pathLst>
              <a:path w="4222851" h="5674270">
                <a:moveTo>
                  <a:pt x="0" y="0"/>
                </a:moveTo>
                <a:lnTo>
                  <a:pt x="4222851" y="0"/>
                </a:lnTo>
                <a:lnTo>
                  <a:pt x="4222851" y="5674270"/>
                </a:lnTo>
                <a:lnTo>
                  <a:pt x="0" y="5674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4262" r="-83358" b="-12031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434849" y="2497577"/>
            <a:ext cx="10087591" cy="5674270"/>
          </a:xfrm>
          <a:custGeom>
            <a:avLst/>
            <a:gdLst/>
            <a:ahLst/>
            <a:cxnLst/>
            <a:rect l="l" t="t" r="r" b="b"/>
            <a:pathLst>
              <a:path w="10087591" h="5674270">
                <a:moveTo>
                  <a:pt x="0" y="0"/>
                </a:moveTo>
                <a:lnTo>
                  <a:pt x="10087591" y="0"/>
                </a:lnTo>
                <a:lnTo>
                  <a:pt x="10087591" y="5674270"/>
                </a:lnTo>
                <a:lnTo>
                  <a:pt x="0" y="56742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689809" y="561975"/>
            <a:ext cx="4818102" cy="8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MOCK APP UI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72503" y="8465745"/>
            <a:ext cx="165794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User Login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14908" y="8465745"/>
            <a:ext cx="165818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Dashboard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69631" y="8465745"/>
            <a:ext cx="181665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Activity Log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15933" y="8152797"/>
            <a:ext cx="962025" cy="14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7"/>
              </a:lnSpc>
            </a:pPr>
            <a:r>
              <a:rPr lang="en-US" sz="898">
                <a:solidFill>
                  <a:srgbClr val="B3B3B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Made with Napkin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16207" y="317154"/>
            <a:ext cx="4279992" cy="1423102"/>
            <a:chOff x="0" y="0"/>
            <a:chExt cx="5706656" cy="1897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06618" cy="1897507"/>
            </a:xfrm>
            <a:custGeom>
              <a:avLst/>
              <a:gdLst/>
              <a:ahLst/>
              <a:cxnLst/>
              <a:rect l="l" t="t" r="r" b="b"/>
              <a:pathLst>
                <a:path w="5706618" h="1897507">
                  <a:moveTo>
                    <a:pt x="0" y="0"/>
                  </a:moveTo>
                  <a:lnTo>
                    <a:pt x="5706618" y="0"/>
                  </a:lnTo>
                  <a:lnTo>
                    <a:pt x="5706618" y="1897507"/>
                  </a:lnTo>
                  <a:lnTo>
                    <a:pt x="0" y="189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" b="-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0"/>
            <a:ext cx="1552813" cy="1888769"/>
            <a:chOff x="0" y="0"/>
            <a:chExt cx="2070418" cy="2518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17" r="-10821"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532144"/>
            <a:ext cx="18507208" cy="937527"/>
            <a:chOff x="0" y="0"/>
            <a:chExt cx="24676278" cy="12500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76227" cy="1250061"/>
            </a:xfrm>
            <a:custGeom>
              <a:avLst/>
              <a:gdLst/>
              <a:ahLst/>
              <a:cxnLst/>
              <a:rect l="l" t="t" r="r" b="b"/>
              <a:pathLst>
                <a:path w="24676227" h="1250061">
                  <a:moveTo>
                    <a:pt x="0" y="0"/>
                  </a:moveTo>
                  <a:lnTo>
                    <a:pt x="24676227" y="0"/>
                  </a:lnTo>
                  <a:lnTo>
                    <a:pt x="24676227" y="1250061"/>
                  </a:lnTo>
                  <a:lnTo>
                    <a:pt x="0" y="1250061"/>
                  </a:lnTo>
                  <a:close/>
                </a:path>
              </a:pathLst>
            </a:custGeom>
            <a:solidFill>
              <a:srgbClr val="231C4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850599" y="9664827"/>
            <a:ext cx="4806001" cy="672170"/>
            <a:chOff x="0" y="0"/>
            <a:chExt cx="6408001" cy="8962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39" cy="896239"/>
            </a:xfrm>
            <a:custGeom>
              <a:avLst/>
              <a:gdLst/>
              <a:ahLst/>
              <a:cxnLst/>
              <a:rect l="l" t="t" r="r" b="b"/>
              <a:pathLst>
                <a:path w="6408039" h="896239">
                  <a:moveTo>
                    <a:pt x="0" y="0"/>
                  </a:moveTo>
                  <a:lnTo>
                    <a:pt x="6408039" y="0"/>
                  </a:lnTo>
                  <a:lnTo>
                    <a:pt x="6408039" y="896239"/>
                  </a:lnTo>
                  <a:lnTo>
                    <a:pt x="0" y="896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9219" b="-8921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850599" y="9650540"/>
            <a:ext cx="4806001" cy="686453"/>
            <a:chOff x="0" y="0"/>
            <a:chExt cx="6408001" cy="9152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1" cy="915264"/>
            </a:xfrm>
            <a:custGeom>
              <a:avLst/>
              <a:gdLst/>
              <a:ahLst/>
              <a:cxnLst/>
              <a:rect l="l" t="t" r="r" b="b"/>
              <a:pathLst>
                <a:path w="6408001" h="915264">
                  <a:moveTo>
                    <a:pt x="0" y="0"/>
                  </a:moveTo>
                  <a:lnTo>
                    <a:pt x="6408001" y="0"/>
                  </a:lnTo>
                  <a:lnTo>
                    <a:pt x="6408001" y="915264"/>
                  </a:lnTo>
                  <a:lnTo>
                    <a:pt x="0" y="9152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6419" b="-8642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934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HACKARENA’26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1816456"/>
            <a:ext cx="7890924" cy="5167135"/>
          </a:xfrm>
          <a:custGeom>
            <a:avLst/>
            <a:gdLst/>
            <a:ahLst/>
            <a:cxnLst/>
            <a:rect l="l" t="t" r="r" b="b"/>
            <a:pathLst>
              <a:path w="7890924" h="5167135">
                <a:moveTo>
                  <a:pt x="0" y="0"/>
                </a:moveTo>
                <a:lnTo>
                  <a:pt x="7890924" y="0"/>
                </a:lnTo>
                <a:lnTo>
                  <a:pt x="7890924" y="5167134"/>
                </a:lnTo>
                <a:lnTo>
                  <a:pt x="0" y="5167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709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151384" y="1844156"/>
            <a:ext cx="7861012" cy="3964052"/>
          </a:xfrm>
          <a:custGeom>
            <a:avLst/>
            <a:gdLst/>
            <a:ahLst/>
            <a:cxnLst/>
            <a:rect l="l" t="t" r="r" b="b"/>
            <a:pathLst>
              <a:path w="7861012" h="3964052">
                <a:moveTo>
                  <a:pt x="0" y="0"/>
                </a:moveTo>
                <a:lnTo>
                  <a:pt x="7861012" y="0"/>
                </a:lnTo>
                <a:lnTo>
                  <a:pt x="7861012" y="3964052"/>
                </a:lnTo>
                <a:lnTo>
                  <a:pt x="0" y="39640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8809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10314" y="7240765"/>
            <a:ext cx="3155348" cy="2148950"/>
          </a:xfrm>
          <a:custGeom>
            <a:avLst/>
            <a:gdLst/>
            <a:ahLst/>
            <a:cxnLst/>
            <a:rect l="l" t="t" r="r" b="b"/>
            <a:pathLst>
              <a:path w="3155348" h="2148950">
                <a:moveTo>
                  <a:pt x="0" y="0"/>
                </a:moveTo>
                <a:lnTo>
                  <a:pt x="3155348" y="0"/>
                </a:lnTo>
                <a:lnTo>
                  <a:pt x="3155348" y="2148951"/>
                </a:lnTo>
                <a:lnTo>
                  <a:pt x="0" y="21489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968" b="-1968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51874" y="6285782"/>
            <a:ext cx="2273148" cy="2273148"/>
          </a:xfrm>
          <a:custGeom>
            <a:avLst/>
            <a:gdLst/>
            <a:ahLst/>
            <a:cxnLst/>
            <a:rect l="l" t="t" r="r" b="b"/>
            <a:pathLst>
              <a:path w="2273148" h="2273148">
                <a:moveTo>
                  <a:pt x="0" y="0"/>
                </a:moveTo>
                <a:lnTo>
                  <a:pt x="2273148" y="0"/>
                </a:lnTo>
                <a:lnTo>
                  <a:pt x="2273148" y="2273148"/>
                </a:lnTo>
                <a:lnTo>
                  <a:pt x="0" y="22731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323545" y="2487455"/>
            <a:ext cx="2740938" cy="2740938"/>
          </a:xfrm>
          <a:custGeom>
            <a:avLst/>
            <a:gdLst/>
            <a:ahLst/>
            <a:cxnLst/>
            <a:rect l="l" t="t" r="r" b="b"/>
            <a:pathLst>
              <a:path w="2740938" h="2740938">
                <a:moveTo>
                  <a:pt x="0" y="0"/>
                </a:moveTo>
                <a:lnTo>
                  <a:pt x="2740939" y="0"/>
                </a:lnTo>
                <a:lnTo>
                  <a:pt x="2740939" y="2740938"/>
                </a:lnTo>
                <a:lnTo>
                  <a:pt x="0" y="27409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145621" y="475073"/>
            <a:ext cx="9906477" cy="92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2"/>
              </a:lnSpc>
            </a:pPr>
            <a:r>
              <a:rPr lang="en-US" sz="5398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84242" y="5351111"/>
            <a:ext cx="2087642" cy="21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9"/>
              </a:lnSpc>
            </a:pPr>
            <a:r>
              <a:rPr lang="en-US" sz="1306">
                <a:solidFill>
                  <a:srgbClr val="29292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Improved User Experience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6562" y="3644647"/>
            <a:ext cx="1795707" cy="407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06">
                <a:solidFill>
                  <a:srgbClr val="3B3B3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No need for manual Inspection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18326" y="2176978"/>
            <a:ext cx="2476500" cy="266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3"/>
              </a:lnSpc>
            </a:pPr>
            <a:r>
              <a:rPr lang="en-US" sz="1509">
                <a:solidFill>
                  <a:srgbClr val="1C1C1C"/>
                </a:solidFill>
                <a:latin typeface="Ruda Black"/>
                <a:ea typeface="Ruda Black"/>
                <a:cs typeface="Ruda Black"/>
                <a:sym typeface="Ruda Black"/>
              </a:rPr>
              <a:t>Optimize Locker Solutions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86350" y="3333591"/>
            <a:ext cx="1505273" cy="675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3"/>
              </a:lnSpc>
            </a:pPr>
            <a:r>
              <a:rPr lang="en-US" sz="1209">
                <a:solidFill>
                  <a:srgbClr val="292929"/>
                </a:solidFill>
                <a:latin typeface="Ruda Black"/>
                <a:ea typeface="Ruda Black"/>
                <a:cs typeface="Ruda Black"/>
                <a:sym typeface="Ruda Black"/>
              </a:rPr>
              <a:t>      Accessibility</a:t>
            </a:r>
          </a:p>
          <a:p>
            <a:pPr algn="l">
              <a:lnSpc>
                <a:spcPts val="1833"/>
              </a:lnSpc>
            </a:pPr>
            <a:r>
              <a:rPr lang="en-US" sz="1209">
                <a:solidFill>
                  <a:srgbClr val="292929"/>
                </a:solidFill>
                <a:latin typeface="Ruda Black"/>
                <a:ea typeface="Ruda Black"/>
                <a:cs typeface="Ruda Black"/>
                <a:sym typeface="Ruda Black"/>
              </a:rPr>
              <a:t>WEB app based    </a:t>
            </a:r>
          </a:p>
          <a:p>
            <a:pPr algn="l">
              <a:lnSpc>
                <a:spcPts val="1833"/>
              </a:lnSpc>
            </a:pPr>
            <a:r>
              <a:rPr lang="en-US" sz="1209">
                <a:solidFill>
                  <a:srgbClr val="292929"/>
                </a:solidFill>
                <a:latin typeface="Ruda Black"/>
                <a:ea typeface="Ruda Black"/>
                <a:cs typeface="Ruda Black"/>
                <a:sym typeface="Ruda Black"/>
              </a:rPr>
              <a:t>       monitoring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7340" y="5502782"/>
            <a:ext cx="1356836" cy="21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9"/>
              </a:lnSpc>
            </a:pPr>
            <a:r>
              <a:rPr lang="en-US" sz="1306">
                <a:solidFill>
                  <a:srgbClr val="29292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Affordable &amp; Easy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2749" y="5789158"/>
            <a:ext cx="1466017" cy="19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06">
                <a:solidFill>
                  <a:srgbClr val="3B3B3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Low cost, easy setup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5845" y="3279700"/>
            <a:ext cx="937141" cy="21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9"/>
              </a:lnSpc>
            </a:pPr>
            <a:r>
              <a:rPr lang="en-US" sz="1306">
                <a:solidFill>
                  <a:srgbClr val="29292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Time Saving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86350" y="5698195"/>
            <a:ext cx="1683425" cy="206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34">
                <a:solidFill>
                  <a:srgbClr val="3B3B3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Give instant awareness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984242" y="5717245"/>
            <a:ext cx="8334285" cy="3410223"/>
            <a:chOff x="0" y="0"/>
            <a:chExt cx="11112380" cy="4546963"/>
          </a:xfrm>
        </p:grpSpPr>
        <p:sp>
          <p:nvSpPr>
            <p:cNvPr id="28" name="TextBox 28"/>
            <p:cNvSpPr txBox="1"/>
            <p:nvPr/>
          </p:nvSpPr>
          <p:spPr>
            <a:xfrm>
              <a:off x="160246" y="563983"/>
              <a:ext cx="2180590" cy="15739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654"/>
                </a:lnSpc>
              </a:pPr>
              <a:r>
                <a:rPr lang="en-US" sz="1061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Offline Local Alert</a:t>
              </a:r>
            </a:p>
            <a:p>
              <a:pPr algn="r">
                <a:lnSpc>
                  <a:spcPts val="1553"/>
                </a:lnSpc>
              </a:pPr>
              <a:r>
                <a:rPr lang="en-US" sz="996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System</a:t>
              </a:r>
            </a:p>
            <a:p>
              <a:pPr algn="r">
                <a:lnSpc>
                  <a:spcPts val="1553"/>
                </a:lnSpc>
              </a:pPr>
              <a:r>
                <a:rPr lang="en-US" sz="996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Built-in buzzer activates</a:t>
              </a:r>
            </a:p>
            <a:p>
              <a:pPr algn="r">
                <a:lnSpc>
                  <a:spcPts val="1526"/>
                </a:lnSpc>
              </a:pPr>
              <a:r>
                <a:rPr lang="en-US" sz="979">
                  <a:solidFill>
                    <a:srgbClr val="3C3C3C"/>
                  </a:solidFill>
                  <a:latin typeface="Ruda Black"/>
                  <a:ea typeface="Ruda Black"/>
                  <a:cs typeface="Ruda Black"/>
                  <a:sym typeface="Ruda Black"/>
                </a:rPr>
                <a:t>even without internet,</a:t>
              </a:r>
            </a:p>
            <a:p>
              <a:pPr algn="r">
                <a:lnSpc>
                  <a:spcPts val="1654"/>
                </a:lnSpc>
              </a:pPr>
              <a:r>
                <a:rPr lang="en-US" sz="1061">
                  <a:solidFill>
                    <a:srgbClr val="3C3C3C"/>
                  </a:solidFill>
                  <a:latin typeface="Ruda Black"/>
                  <a:ea typeface="Ruda Black"/>
                  <a:cs typeface="Ruda Black"/>
                  <a:sym typeface="Ruda Black"/>
                </a:rPr>
                <a:t>providing immediate on-</a:t>
              </a:r>
            </a:p>
            <a:p>
              <a:pPr algn="r">
                <a:lnSpc>
                  <a:spcPts val="1654"/>
                </a:lnSpc>
              </a:pPr>
              <a:r>
                <a:rPr lang="en-US" sz="1061">
                  <a:solidFill>
                    <a:srgbClr val="3C3C3C"/>
                  </a:solidFill>
                  <a:latin typeface="Ruda Black"/>
                  <a:ea typeface="Ruda Black"/>
                  <a:cs typeface="Ruda Black"/>
                  <a:sym typeface="Ruda Black"/>
                </a:rPr>
                <a:t>site tamper warning.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2639188"/>
              <a:ext cx="2501083" cy="508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584"/>
                </a:lnSpc>
              </a:pPr>
              <a:r>
                <a:rPr lang="en-US" sz="1055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Accessibility</a:t>
              </a:r>
            </a:p>
            <a:p>
              <a:pPr algn="r">
                <a:lnSpc>
                  <a:spcPts val="1584"/>
                </a:lnSpc>
              </a:pPr>
              <a:r>
                <a:rPr lang="en-US" sz="1055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 WEB app-based monitoring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94743" y="-47625"/>
              <a:ext cx="4414466" cy="55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30"/>
                </a:lnSpc>
              </a:pPr>
              <a:r>
                <a:rPr lang="en-US" sz="2521">
                  <a:solidFill>
                    <a:srgbClr val="1D1D1D"/>
                  </a:solidFill>
                  <a:latin typeface="Ruda Black"/>
                  <a:ea typeface="Ruda Black"/>
                  <a:cs typeface="Ruda Black"/>
                  <a:sym typeface="Ruda Black"/>
                </a:rPr>
                <a:t>Mitigation Strategies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40337" y="794516"/>
              <a:ext cx="2372043" cy="1122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62"/>
                </a:lnSpc>
              </a:pPr>
              <a:r>
                <a:rPr lang="en-US" sz="1143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Battery Backup System</a:t>
              </a:r>
            </a:p>
            <a:p>
              <a:pPr algn="l">
                <a:lnSpc>
                  <a:spcPts val="1662"/>
                </a:lnSpc>
              </a:pPr>
              <a:r>
                <a:rPr lang="en-US" sz="1143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Rechargeable battery</a:t>
              </a:r>
            </a:p>
            <a:p>
              <a:pPr algn="l">
                <a:lnSpc>
                  <a:spcPts val="1834"/>
                </a:lnSpc>
              </a:pPr>
              <a:r>
                <a:rPr lang="en-US" sz="1261">
                  <a:solidFill>
                    <a:srgbClr val="3C3C3C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ensures uninterrupted</a:t>
              </a:r>
            </a:p>
            <a:p>
              <a:pPr algn="l">
                <a:lnSpc>
                  <a:spcPts val="1662"/>
                </a:lnSpc>
              </a:pPr>
              <a:r>
                <a:rPr lang="en-US" sz="1143">
                  <a:solidFill>
                    <a:srgbClr val="3C3C3C"/>
                  </a:solidFill>
                  <a:latin typeface="Ruda Black"/>
                  <a:ea typeface="Ruda Black"/>
                  <a:cs typeface="Ruda Black"/>
                  <a:sym typeface="Ruda Black"/>
                </a:rPr>
                <a:t>monitoring during power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53037" y="2243007"/>
              <a:ext cx="1991360" cy="1567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84"/>
                </a:lnSpc>
              </a:pPr>
              <a:r>
                <a:rPr lang="en-US" sz="1017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Secure Encrypted</a:t>
              </a:r>
            </a:p>
            <a:p>
              <a:pPr algn="l">
                <a:lnSpc>
                  <a:spcPts val="1584"/>
                </a:lnSpc>
              </a:pPr>
              <a:r>
                <a:rPr lang="en-US" sz="1017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Communication</a:t>
              </a:r>
            </a:p>
            <a:p>
              <a:pPr algn="l">
                <a:lnSpc>
                  <a:spcPts val="1584"/>
                </a:lnSpc>
              </a:pPr>
              <a:r>
                <a:rPr lang="en-US" sz="1017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HTTPS-based data</a:t>
              </a:r>
            </a:p>
            <a:p>
              <a:pPr algn="l">
                <a:lnSpc>
                  <a:spcPts val="1584"/>
                </a:lnSpc>
              </a:pPr>
              <a:r>
                <a:rPr lang="en-US" sz="1017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transmission prevents</a:t>
              </a:r>
            </a:p>
            <a:p>
              <a:pPr algn="l">
                <a:lnSpc>
                  <a:spcPts val="1584"/>
                </a:lnSpc>
              </a:pPr>
              <a:r>
                <a:rPr lang="en-US" sz="1017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unauthorized access or</a:t>
              </a:r>
            </a:p>
            <a:p>
              <a:pPr algn="l">
                <a:lnSpc>
                  <a:spcPts val="1584"/>
                </a:lnSpc>
              </a:pPr>
              <a:r>
                <a:rPr lang="en-US" sz="1017">
                  <a:solidFill>
                    <a:srgbClr val="292929"/>
                  </a:solidFill>
                  <a:latin typeface="Ruda Black"/>
                  <a:ea typeface="Ruda Black"/>
                  <a:cs typeface="Ruda Black"/>
                  <a:sym typeface="Ruda Black"/>
                </a:rPr>
                <a:t>hacking.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2511786" y="502890"/>
              <a:ext cx="6228551" cy="4044073"/>
            </a:xfrm>
            <a:custGeom>
              <a:avLst/>
              <a:gdLst/>
              <a:ahLst/>
              <a:cxnLst/>
              <a:rect l="l" t="t" r="r" b="b"/>
              <a:pathLst>
                <a:path w="6228551" h="4044073">
                  <a:moveTo>
                    <a:pt x="0" y="0"/>
                  </a:moveTo>
                  <a:lnTo>
                    <a:pt x="6228551" y="0"/>
                  </a:lnTo>
                  <a:lnTo>
                    <a:pt x="6228551" y="4044073"/>
                  </a:lnTo>
                  <a:lnTo>
                    <a:pt x="0" y="4044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8144" t="-31008" r="-36073" b="-3166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16207" y="317154"/>
            <a:ext cx="4279992" cy="1423102"/>
            <a:chOff x="0" y="0"/>
            <a:chExt cx="5706656" cy="1897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06618" cy="1897507"/>
            </a:xfrm>
            <a:custGeom>
              <a:avLst/>
              <a:gdLst/>
              <a:ahLst/>
              <a:cxnLst/>
              <a:rect l="l" t="t" r="r" b="b"/>
              <a:pathLst>
                <a:path w="5706618" h="1897507">
                  <a:moveTo>
                    <a:pt x="0" y="0"/>
                  </a:moveTo>
                  <a:lnTo>
                    <a:pt x="5706618" y="0"/>
                  </a:lnTo>
                  <a:lnTo>
                    <a:pt x="5706618" y="1897507"/>
                  </a:lnTo>
                  <a:lnTo>
                    <a:pt x="0" y="189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" b="-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0"/>
            <a:ext cx="1552813" cy="1888769"/>
            <a:chOff x="0" y="0"/>
            <a:chExt cx="2070418" cy="2518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17" r="-10821"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219208" y="9495692"/>
            <a:ext cx="18507208" cy="964930"/>
            <a:chOff x="0" y="0"/>
            <a:chExt cx="24676278" cy="12865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76227" cy="1286637"/>
            </a:xfrm>
            <a:custGeom>
              <a:avLst/>
              <a:gdLst/>
              <a:ahLst/>
              <a:cxnLst/>
              <a:rect l="l" t="t" r="r" b="b"/>
              <a:pathLst>
                <a:path w="24676227" h="1286637">
                  <a:moveTo>
                    <a:pt x="0" y="0"/>
                  </a:moveTo>
                  <a:lnTo>
                    <a:pt x="24676227" y="0"/>
                  </a:lnTo>
                  <a:lnTo>
                    <a:pt x="24676227" y="1286637"/>
                  </a:lnTo>
                  <a:lnTo>
                    <a:pt x="0" y="1286637"/>
                  </a:lnTo>
                  <a:close/>
                </a:path>
              </a:pathLst>
            </a:custGeom>
            <a:solidFill>
              <a:srgbClr val="231C4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631400" y="9632242"/>
            <a:ext cx="4806001" cy="691820"/>
            <a:chOff x="0" y="0"/>
            <a:chExt cx="6408001" cy="9224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39" cy="922401"/>
            </a:xfrm>
            <a:custGeom>
              <a:avLst/>
              <a:gdLst/>
              <a:ahLst/>
              <a:cxnLst/>
              <a:rect l="l" t="t" r="r" b="b"/>
              <a:pathLst>
                <a:path w="6408039" h="922401">
                  <a:moveTo>
                    <a:pt x="0" y="0"/>
                  </a:moveTo>
                  <a:lnTo>
                    <a:pt x="6408039" y="0"/>
                  </a:lnTo>
                  <a:lnTo>
                    <a:pt x="6408039" y="922401"/>
                  </a:lnTo>
                  <a:lnTo>
                    <a:pt x="0" y="9224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269" b="-8527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631400" y="9617954"/>
            <a:ext cx="4806001" cy="706104"/>
            <a:chOff x="0" y="0"/>
            <a:chExt cx="6408001" cy="9414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1" cy="941468"/>
            </a:xfrm>
            <a:custGeom>
              <a:avLst/>
              <a:gdLst/>
              <a:ahLst/>
              <a:cxnLst/>
              <a:rect l="l" t="t" r="r" b="b"/>
              <a:pathLst>
                <a:path w="6408001" h="941468">
                  <a:moveTo>
                    <a:pt x="0" y="0"/>
                  </a:moveTo>
                  <a:lnTo>
                    <a:pt x="6408001" y="0"/>
                  </a:lnTo>
                  <a:lnTo>
                    <a:pt x="6408001" y="941468"/>
                  </a:lnTo>
                  <a:lnTo>
                    <a:pt x="0" y="9414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2622" b="-8262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9605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HACKARENA’26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77409" y="1700212"/>
            <a:ext cx="7407533" cy="1638300"/>
            <a:chOff x="0" y="0"/>
            <a:chExt cx="1950955" cy="4314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50955" cy="431486"/>
            </a:xfrm>
            <a:custGeom>
              <a:avLst/>
              <a:gdLst/>
              <a:ahLst/>
              <a:cxnLst/>
              <a:rect l="l" t="t" r="r" b="b"/>
              <a:pathLst>
                <a:path w="1950955" h="431486">
                  <a:moveTo>
                    <a:pt x="27174" y="0"/>
                  </a:moveTo>
                  <a:lnTo>
                    <a:pt x="1923782" y="0"/>
                  </a:lnTo>
                  <a:cubicBezTo>
                    <a:pt x="1938789" y="0"/>
                    <a:pt x="1950955" y="12166"/>
                    <a:pt x="1950955" y="27174"/>
                  </a:cubicBezTo>
                  <a:lnTo>
                    <a:pt x="1950955" y="404313"/>
                  </a:lnTo>
                  <a:cubicBezTo>
                    <a:pt x="1950955" y="419320"/>
                    <a:pt x="1938789" y="431486"/>
                    <a:pt x="1923782" y="431486"/>
                  </a:cubicBezTo>
                  <a:lnTo>
                    <a:pt x="27174" y="431486"/>
                  </a:lnTo>
                  <a:cubicBezTo>
                    <a:pt x="19967" y="431486"/>
                    <a:pt x="13055" y="428623"/>
                    <a:pt x="7959" y="423527"/>
                  </a:cubicBezTo>
                  <a:cubicBezTo>
                    <a:pt x="2863" y="418431"/>
                    <a:pt x="0" y="411520"/>
                    <a:pt x="0" y="404313"/>
                  </a:cubicBezTo>
                  <a:lnTo>
                    <a:pt x="0" y="27174"/>
                  </a:lnTo>
                  <a:cubicBezTo>
                    <a:pt x="0" y="19967"/>
                    <a:pt x="2863" y="13055"/>
                    <a:pt x="7959" y="7959"/>
                  </a:cubicBezTo>
                  <a:cubicBezTo>
                    <a:pt x="13055" y="2863"/>
                    <a:pt x="19967" y="0"/>
                    <a:pt x="27174" y="0"/>
                  </a:cubicBezTo>
                  <a:close/>
                </a:path>
              </a:pathLst>
            </a:custGeom>
            <a:solidFill>
              <a:srgbClr val="59A1D2">
                <a:alpha val="42745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950955" cy="441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365238" y="561975"/>
            <a:ext cx="7467243" cy="8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IMPACTS &amp; BENEFITS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4946" y="2252662"/>
            <a:ext cx="758999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Real-time mobile alerts give instant awareness.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Users don’t need to physically check locker status.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Peace of mind even when away from locker.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7409" y="1730731"/>
            <a:ext cx="409348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 u="sng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 Improved User Experience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7409" y="3586163"/>
            <a:ext cx="2017514" cy="36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 u="sng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Accessibility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55961" y="3519151"/>
            <a:ext cx="9067413" cy="3079823"/>
            <a:chOff x="-437170" y="-9525"/>
            <a:chExt cx="2388125" cy="811146"/>
          </a:xfrm>
        </p:grpSpPr>
        <p:sp>
          <p:nvSpPr>
            <p:cNvPr id="21" name="Freeform 21"/>
            <p:cNvSpPr/>
            <p:nvPr/>
          </p:nvSpPr>
          <p:spPr>
            <a:xfrm>
              <a:off x="-437170" y="409019"/>
              <a:ext cx="1950955" cy="392602"/>
            </a:xfrm>
            <a:custGeom>
              <a:avLst/>
              <a:gdLst/>
              <a:ahLst/>
              <a:cxnLst/>
              <a:rect l="l" t="t" r="r" b="b"/>
              <a:pathLst>
                <a:path w="1950955" h="392602">
                  <a:moveTo>
                    <a:pt x="27174" y="0"/>
                  </a:moveTo>
                  <a:lnTo>
                    <a:pt x="1923782" y="0"/>
                  </a:lnTo>
                  <a:cubicBezTo>
                    <a:pt x="1938789" y="0"/>
                    <a:pt x="1950955" y="12166"/>
                    <a:pt x="1950955" y="27174"/>
                  </a:cubicBezTo>
                  <a:lnTo>
                    <a:pt x="1950955" y="365429"/>
                  </a:lnTo>
                  <a:cubicBezTo>
                    <a:pt x="1950955" y="372636"/>
                    <a:pt x="1948092" y="379547"/>
                    <a:pt x="1942996" y="384643"/>
                  </a:cubicBezTo>
                  <a:cubicBezTo>
                    <a:pt x="1937900" y="389740"/>
                    <a:pt x="1930989" y="392602"/>
                    <a:pt x="1923782" y="392602"/>
                  </a:cubicBezTo>
                  <a:lnTo>
                    <a:pt x="27174" y="392602"/>
                  </a:lnTo>
                  <a:cubicBezTo>
                    <a:pt x="19967" y="392602"/>
                    <a:pt x="13055" y="389740"/>
                    <a:pt x="7959" y="384643"/>
                  </a:cubicBezTo>
                  <a:cubicBezTo>
                    <a:pt x="2863" y="379547"/>
                    <a:pt x="0" y="372636"/>
                    <a:pt x="0" y="365429"/>
                  </a:cubicBezTo>
                  <a:lnTo>
                    <a:pt x="0" y="27174"/>
                  </a:lnTo>
                  <a:cubicBezTo>
                    <a:pt x="0" y="19967"/>
                    <a:pt x="2863" y="13055"/>
                    <a:pt x="7959" y="7959"/>
                  </a:cubicBezTo>
                  <a:cubicBezTo>
                    <a:pt x="13055" y="2863"/>
                    <a:pt x="19967" y="0"/>
                    <a:pt x="27174" y="0"/>
                  </a:cubicBezTo>
                  <a:close/>
                </a:path>
              </a:pathLst>
            </a:custGeom>
            <a:solidFill>
              <a:srgbClr val="1F497D">
                <a:alpha val="42745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950955" cy="402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 rot="10800000" flipV="1">
            <a:off x="334975" y="3957830"/>
            <a:ext cx="7589996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3388" lvl="1" indent="-226694" algn="l">
              <a:lnSpc>
                <a:spcPts val="2519"/>
              </a:lnSpc>
              <a:buFont typeface="Arial"/>
              <a:buChar char="•"/>
            </a:pPr>
            <a:r>
              <a:rPr lang="en-US" sz="2099" b="1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WEB app based monitoring (anytime, anywhere).</a:t>
            </a:r>
          </a:p>
          <a:p>
            <a:pPr marL="453388" lvl="1" indent="-226694" algn="l">
              <a:lnSpc>
                <a:spcPts val="2519"/>
              </a:lnSpc>
              <a:buFont typeface="Arial"/>
              <a:buChar char="•"/>
            </a:pPr>
            <a:r>
              <a:rPr lang="en-US" sz="2099" b="1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Simple notification interface – easy to use.</a:t>
            </a:r>
          </a:p>
          <a:p>
            <a:pPr marL="453388" lvl="1" indent="-226694" algn="l">
              <a:lnSpc>
                <a:spcPts val="2519"/>
              </a:lnSpc>
              <a:buFont typeface="Arial"/>
              <a:buChar char="•"/>
            </a:pPr>
            <a:r>
              <a:rPr lang="en-US" sz="2099" b="1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Suitable for students, professionals, hostel residents.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7409" y="5167313"/>
            <a:ext cx="4269938" cy="36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 u="sng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 Increased Safety &amp;Security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0240" y="5548312"/>
            <a:ext cx="6585942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519"/>
              </a:lnSpc>
              <a:buFont typeface="Arial"/>
              <a:buChar char="•"/>
            </a:pPr>
            <a:r>
              <a:rPr lang="en-US" sz="2099" b="1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Immediate alert in case of tampering.</a:t>
            </a:r>
          </a:p>
          <a:p>
            <a:pPr marL="453388" lvl="1" indent="-226694" algn="l">
              <a:lnSpc>
                <a:spcPts val="2519"/>
              </a:lnSpc>
              <a:buFont typeface="Arial"/>
              <a:buChar char="•"/>
            </a:pPr>
            <a:r>
              <a:rPr lang="en-US" sz="2099" b="1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Reduced chances of theft.</a:t>
            </a:r>
          </a:p>
          <a:p>
            <a:pPr marL="453388" lvl="1" indent="-226694" algn="l">
              <a:lnSpc>
                <a:spcPts val="2519"/>
              </a:lnSpc>
              <a:buFont typeface="Arial"/>
              <a:buChar char="•"/>
            </a:pPr>
            <a:r>
              <a:rPr lang="en-US" sz="2099" b="1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Digital monitoring instead of blind trust on keys.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9872" y="7011586"/>
            <a:ext cx="1952506" cy="36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 u="sng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499" b="1" u="sng" dirty="0" err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TimeSaving</a:t>
            </a:r>
            <a:endParaRPr lang="en-US" sz="2499" b="1" u="sng" dirty="0">
              <a:solidFill>
                <a:srgbClr val="231C4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94946" y="7389282"/>
            <a:ext cx="5965507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No need for manual inspection by staff.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Automated monitoring system.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7409" y="8217723"/>
            <a:ext cx="5853991" cy="361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 u="sng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 Better Trust in Shared Spaces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4176" y="8665544"/>
            <a:ext cx="6338888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Users feel secure keeping valuables.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Co-working spaces gain better reputation.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18522" y="1690687"/>
            <a:ext cx="2811402" cy="361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 u="sng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 Social Benefits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82975" y="2092681"/>
            <a:ext cx="674501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Improves personal safety.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Builds trust in shared communities.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Reduces conflicts related to theft or damage.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18522" y="3328987"/>
            <a:ext cx="3311678" cy="361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 u="sng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 Economic Benefits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78738" y="3805238"/>
            <a:ext cx="807493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Low-cost IoT solution compared to full CCTV systems.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Reduces financial losses due to theft.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Adds value to co-working businesses.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18522" y="5391151"/>
            <a:ext cx="3692678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99" b="1" u="sng" dirty="0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Environmental Benefits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82975" y="5905500"/>
            <a:ext cx="776716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Low power consumption (ESP32 is energy efficient).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Reduces need for heavy security infrastructure.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Minimal hardware footprint.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18522" y="7110763"/>
            <a:ext cx="462760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 u="sng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 Community-Level Advantages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18522" y="7691788"/>
            <a:ext cx="546389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Smart infrastructure upgrade.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Encourages IoT adoption.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 b="1">
                <a:solidFill>
                  <a:srgbClr val="231C4F"/>
                </a:solidFill>
                <a:latin typeface="Arimo Bold"/>
                <a:ea typeface="Arimo Bold"/>
                <a:cs typeface="Arimo Bold"/>
                <a:sym typeface="Arimo Bold"/>
              </a:rPr>
              <a:t>Creates safer shared environments.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49797" y="3391266"/>
            <a:ext cx="7407533" cy="1562100"/>
            <a:chOff x="0" y="0"/>
            <a:chExt cx="1950955" cy="41141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950955" cy="411417"/>
            </a:xfrm>
            <a:custGeom>
              <a:avLst/>
              <a:gdLst/>
              <a:ahLst/>
              <a:cxnLst/>
              <a:rect l="l" t="t" r="r" b="b"/>
              <a:pathLst>
                <a:path w="1950955" h="411417">
                  <a:moveTo>
                    <a:pt x="27174" y="0"/>
                  </a:moveTo>
                  <a:lnTo>
                    <a:pt x="1923782" y="0"/>
                  </a:lnTo>
                  <a:cubicBezTo>
                    <a:pt x="1938789" y="0"/>
                    <a:pt x="1950955" y="12166"/>
                    <a:pt x="1950955" y="27174"/>
                  </a:cubicBezTo>
                  <a:lnTo>
                    <a:pt x="1950955" y="384244"/>
                  </a:lnTo>
                  <a:cubicBezTo>
                    <a:pt x="1950955" y="391451"/>
                    <a:pt x="1948092" y="398362"/>
                    <a:pt x="1942996" y="403458"/>
                  </a:cubicBezTo>
                  <a:cubicBezTo>
                    <a:pt x="1937900" y="408554"/>
                    <a:pt x="1930989" y="411417"/>
                    <a:pt x="1923782" y="411417"/>
                  </a:cubicBezTo>
                  <a:lnTo>
                    <a:pt x="27174" y="411417"/>
                  </a:lnTo>
                  <a:cubicBezTo>
                    <a:pt x="19967" y="411417"/>
                    <a:pt x="13055" y="408554"/>
                    <a:pt x="7959" y="403458"/>
                  </a:cubicBezTo>
                  <a:cubicBezTo>
                    <a:pt x="2863" y="398362"/>
                    <a:pt x="0" y="391451"/>
                    <a:pt x="0" y="384244"/>
                  </a:cubicBezTo>
                  <a:lnTo>
                    <a:pt x="0" y="27174"/>
                  </a:lnTo>
                  <a:cubicBezTo>
                    <a:pt x="0" y="19967"/>
                    <a:pt x="2863" y="13055"/>
                    <a:pt x="7959" y="7959"/>
                  </a:cubicBezTo>
                  <a:cubicBezTo>
                    <a:pt x="13055" y="2863"/>
                    <a:pt x="19967" y="0"/>
                    <a:pt x="27174" y="0"/>
                  </a:cubicBezTo>
                  <a:close/>
                </a:path>
              </a:pathLst>
            </a:custGeom>
            <a:solidFill>
              <a:srgbClr val="59A1D2">
                <a:alpha val="42745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1950955" cy="420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-1613455" y="3103610"/>
            <a:ext cx="9538426" cy="4981233"/>
            <a:chOff x="0" y="-9525"/>
            <a:chExt cx="2512178" cy="1311930"/>
          </a:xfrm>
        </p:grpSpPr>
        <p:sp>
          <p:nvSpPr>
            <p:cNvPr id="42" name="Freeform 42"/>
            <p:cNvSpPr/>
            <p:nvPr/>
          </p:nvSpPr>
          <p:spPr>
            <a:xfrm>
              <a:off x="561223" y="971822"/>
              <a:ext cx="1950955" cy="330583"/>
            </a:xfrm>
            <a:custGeom>
              <a:avLst/>
              <a:gdLst/>
              <a:ahLst/>
              <a:cxnLst/>
              <a:rect l="l" t="t" r="r" b="b"/>
              <a:pathLst>
                <a:path w="1950955" h="330583">
                  <a:moveTo>
                    <a:pt x="27174" y="0"/>
                  </a:moveTo>
                  <a:lnTo>
                    <a:pt x="1923782" y="0"/>
                  </a:lnTo>
                  <a:cubicBezTo>
                    <a:pt x="1938789" y="0"/>
                    <a:pt x="1950955" y="12166"/>
                    <a:pt x="1950955" y="27174"/>
                  </a:cubicBezTo>
                  <a:lnTo>
                    <a:pt x="1950955" y="303409"/>
                  </a:lnTo>
                  <a:cubicBezTo>
                    <a:pt x="1950955" y="310616"/>
                    <a:pt x="1948092" y="317528"/>
                    <a:pt x="1942996" y="322624"/>
                  </a:cubicBezTo>
                  <a:cubicBezTo>
                    <a:pt x="1937900" y="327720"/>
                    <a:pt x="1930989" y="330583"/>
                    <a:pt x="1923782" y="330583"/>
                  </a:cubicBezTo>
                  <a:lnTo>
                    <a:pt x="27174" y="330583"/>
                  </a:lnTo>
                  <a:cubicBezTo>
                    <a:pt x="19967" y="330583"/>
                    <a:pt x="13055" y="327720"/>
                    <a:pt x="7959" y="322624"/>
                  </a:cubicBezTo>
                  <a:cubicBezTo>
                    <a:pt x="2863" y="317528"/>
                    <a:pt x="0" y="310616"/>
                    <a:pt x="0" y="303409"/>
                  </a:cubicBezTo>
                  <a:lnTo>
                    <a:pt x="0" y="27174"/>
                  </a:lnTo>
                  <a:cubicBezTo>
                    <a:pt x="0" y="19967"/>
                    <a:pt x="2863" y="13055"/>
                    <a:pt x="7959" y="7959"/>
                  </a:cubicBezTo>
                  <a:cubicBezTo>
                    <a:pt x="13055" y="2863"/>
                    <a:pt x="19967" y="0"/>
                    <a:pt x="27174" y="0"/>
                  </a:cubicBezTo>
                  <a:close/>
                </a:path>
              </a:pathLst>
            </a:custGeom>
            <a:solidFill>
              <a:srgbClr val="1F497D">
                <a:alpha val="42745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950955" cy="340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94775" y="6464866"/>
            <a:ext cx="7540926" cy="2952276"/>
            <a:chOff x="0" y="-9525"/>
            <a:chExt cx="1986087" cy="777554"/>
          </a:xfrm>
        </p:grpSpPr>
        <p:sp>
          <p:nvSpPr>
            <p:cNvPr id="45" name="Freeform 45"/>
            <p:cNvSpPr/>
            <p:nvPr/>
          </p:nvSpPr>
          <p:spPr>
            <a:xfrm>
              <a:off x="57804" y="433411"/>
              <a:ext cx="1928283" cy="334618"/>
            </a:xfrm>
            <a:custGeom>
              <a:avLst/>
              <a:gdLst/>
              <a:ahLst/>
              <a:cxnLst/>
              <a:rect l="l" t="t" r="r" b="b"/>
              <a:pathLst>
                <a:path w="1928283" h="334618">
                  <a:moveTo>
                    <a:pt x="27493" y="0"/>
                  </a:moveTo>
                  <a:lnTo>
                    <a:pt x="1900790" y="0"/>
                  </a:lnTo>
                  <a:cubicBezTo>
                    <a:pt x="1908082" y="0"/>
                    <a:pt x="1915075" y="2897"/>
                    <a:pt x="1920231" y="8053"/>
                  </a:cubicBezTo>
                  <a:cubicBezTo>
                    <a:pt x="1925387" y="13209"/>
                    <a:pt x="1928283" y="20202"/>
                    <a:pt x="1928283" y="27493"/>
                  </a:cubicBezTo>
                  <a:lnTo>
                    <a:pt x="1928283" y="307125"/>
                  </a:lnTo>
                  <a:cubicBezTo>
                    <a:pt x="1928283" y="314417"/>
                    <a:pt x="1925387" y="321410"/>
                    <a:pt x="1920231" y="326566"/>
                  </a:cubicBezTo>
                  <a:cubicBezTo>
                    <a:pt x="1915075" y="331722"/>
                    <a:pt x="1908082" y="334618"/>
                    <a:pt x="1900790" y="334618"/>
                  </a:cubicBezTo>
                  <a:lnTo>
                    <a:pt x="27493" y="334618"/>
                  </a:lnTo>
                  <a:cubicBezTo>
                    <a:pt x="20202" y="334618"/>
                    <a:pt x="13209" y="331722"/>
                    <a:pt x="8053" y="326566"/>
                  </a:cubicBezTo>
                  <a:cubicBezTo>
                    <a:pt x="2897" y="321410"/>
                    <a:pt x="0" y="314417"/>
                    <a:pt x="0" y="307125"/>
                  </a:cubicBezTo>
                  <a:lnTo>
                    <a:pt x="0" y="27493"/>
                  </a:lnTo>
                  <a:cubicBezTo>
                    <a:pt x="0" y="20202"/>
                    <a:pt x="2897" y="13209"/>
                    <a:pt x="8053" y="8053"/>
                  </a:cubicBezTo>
                  <a:cubicBezTo>
                    <a:pt x="13209" y="2897"/>
                    <a:pt x="20202" y="0"/>
                    <a:pt x="27493" y="0"/>
                  </a:cubicBezTo>
                  <a:close/>
                </a:path>
              </a:pathLst>
            </a:custGeom>
            <a:solidFill>
              <a:srgbClr val="59A1D2">
                <a:alpha val="42745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928283" cy="344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98736" y="7086600"/>
            <a:ext cx="8373096" cy="1773840"/>
            <a:chOff x="0" y="0"/>
            <a:chExt cx="2205260" cy="46718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05260" cy="467184"/>
            </a:xfrm>
            <a:custGeom>
              <a:avLst/>
              <a:gdLst/>
              <a:ahLst/>
              <a:cxnLst/>
              <a:rect l="l" t="t" r="r" b="b"/>
              <a:pathLst>
                <a:path w="2205260" h="467184">
                  <a:moveTo>
                    <a:pt x="24040" y="0"/>
                  </a:moveTo>
                  <a:lnTo>
                    <a:pt x="2181220" y="0"/>
                  </a:lnTo>
                  <a:cubicBezTo>
                    <a:pt x="2187596" y="0"/>
                    <a:pt x="2193710" y="2533"/>
                    <a:pt x="2198219" y="7041"/>
                  </a:cubicBezTo>
                  <a:cubicBezTo>
                    <a:pt x="2202727" y="11550"/>
                    <a:pt x="2205260" y="17664"/>
                    <a:pt x="2205260" y="24040"/>
                  </a:cubicBezTo>
                  <a:lnTo>
                    <a:pt x="2205260" y="443144"/>
                  </a:lnTo>
                  <a:cubicBezTo>
                    <a:pt x="2205260" y="449520"/>
                    <a:pt x="2202727" y="455635"/>
                    <a:pt x="2198219" y="460143"/>
                  </a:cubicBezTo>
                  <a:cubicBezTo>
                    <a:pt x="2193710" y="464651"/>
                    <a:pt x="2187596" y="467184"/>
                    <a:pt x="2181220" y="467184"/>
                  </a:cubicBezTo>
                  <a:lnTo>
                    <a:pt x="24040" y="467184"/>
                  </a:lnTo>
                  <a:cubicBezTo>
                    <a:pt x="17664" y="467184"/>
                    <a:pt x="11550" y="464651"/>
                    <a:pt x="7041" y="460143"/>
                  </a:cubicBezTo>
                  <a:cubicBezTo>
                    <a:pt x="2533" y="455635"/>
                    <a:pt x="0" y="449520"/>
                    <a:pt x="0" y="443144"/>
                  </a:cubicBezTo>
                  <a:lnTo>
                    <a:pt x="0" y="24040"/>
                  </a:lnTo>
                  <a:cubicBezTo>
                    <a:pt x="0" y="17664"/>
                    <a:pt x="2533" y="11550"/>
                    <a:pt x="7041" y="7041"/>
                  </a:cubicBezTo>
                  <a:cubicBezTo>
                    <a:pt x="11550" y="2533"/>
                    <a:pt x="17664" y="0"/>
                    <a:pt x="24040" y="0"/>
                  </a:cubicBezTo>
                  <a:close/>
                </a:path>
              </a:pathLst>
            </a:custGeom>
            <a:solidFill>
              <a:srgbClr val="59A1D2">
                <a:alpha val="42745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2205260" cy="4767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591015" y="3646426"/>
            <a:ext cx="8967892" cy="3342989"/>
            <a:chOff x="-143819" y="-9525"/>
            <a:chExt cx="2361914" cy="880458"/>
          </a:xfrm>
        </p:grpSpPr>
        <p:sp>
          <p:nvSpPr>
            <p:cNvPr id="51" name="Freeform 51"/>
            <p:cNvSpPr/>
            <p:nvPr/>
          </p:nvSpPr>
          <p:spPr>
            <a:xfrm>
              <a:off x="-143819" y="464533"/>
              <a:ext cx="2218095" cy="406400"/>
            </a:xfrm>
            <a:custGeom>
              <a:avLst/>
              <a:gdLst/>
              <a:ahLst/>
              <a:cxnLst/>
              <a:rect l="l" t="t" r="r" b="b"/>
              <a:pathLst>
                <a:path w="2218095" h="406400">
                  <a:moveTo>
                    <a:pt x="23901" y="0"/>
                  </a:moveTo>
                  <a:lnTo>
                    <a:pt x="2194194" y="0"/>
                  </a:lnTo>
                  <a:cubicBezTo>
                    <a:pt x="2207394" y="0"/>
                    <a:pt x="2218095" y="10701"/>
                    <a:pt x="2218095" y="23901"/>
                  </a:cubicBezTo>
                  <a:lnTo>
                    <a:pt x="2218095" y="382499"/>
                  </a:lnTo>
                  <a:cubicBezTo>
                    <a:pt x="2218095" y="395699"/>
                    <a:pt x="2207394" y="406400"/>
                    <a:pt x="2194194" y="406400"/>
                  </a:cubicBezTo>
                  <a:lnTo>
                    <a:pt x="23901" y="406400"/>
                  </a:lnTo>
                  <a:cubicBezTo>
                    <a:pt x="10701" y="406400"/>
                    <a:pt x="0" y="395699"/>
                    <a:pt x="0" y="382499"/>
                  </a:cubicBezTo>
                  <a:lnTo>
                    <a:pt x="0" y="23901"/>
                  </a:lnTo>
                  <a:cubicBezTo>
                    <a:pt x="0" y="10701"/>
                    <a:pt x="10701" y="0"/>
                    <a:pt x="23901" y="0"/>
                  </a:cubicBezTo>
                  <a:close/>
                </a:path>
              </a:pathLst>
            </a:custGeom>
            <a:solidFill>
              <a:srgbClr val="1F497D">
                <a:alpha val="42745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2218095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11693" y="3338512"/>
            <a:ext cx="8421829" cy="1843088"/>
            <a:chOff x="0" y="0"/>
            <a:chExt cx="2218095" cy="48542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18095" cy="485422"/>
            </a:xfrm>
            <a:custGeom>
              <a:avLst/>
              <a:gdLst/>
              <a:ahLst/>
              <a:cxnLst/>
              <a:rect l="l" t="t" r="r" b="b"/>
              <a:pathLst>
                <a:path w="2218095" h="485422">
                  <a:moveTo>
                    <a:pt x="23901" y="0"/>
                  </a:moveTo>
                  <a:lnTo>
                    <a:pt x="2194194" y="0"/>
                  </a:lnTo>
                  <a:cubicBezTo>
                    <a:pt x="2207394" y="0"/>
                    <a:pt x="2218095" y="10701"/>
                    <a:pt x="2218095" y="23901"/>
                  </a:cubicBezTo>
                  <a:lnTo>
                    <a:pt x="2218095" y="461521"/>
                  </a:lnTo>
                  <a:cubicBezTo>
                    <a:pt x="2218095" y="474721"/>
                    <a:pt x="2207394" y="485422"/>
                    <a:pt x="2194194" y="485422"/>
                  </a:cubicBezTo>
                  <a:lnTo>
                    <a:pt x="23901" y="485422"/>
                  </a:lnTo>
                  <a:cubicBezTo>
                    <a:pt x="10701" y="485422"/>
                    <a:pt x="0" y="474721"/>
                    <a:pt x="0" y="461521"/>
                  </a:cubicBezTo>
                  <a:lnTo>
                    <a:pt x="0" y="23901"/>
                  </a:lnTo>
                  <a:cubicBezTo>
                    <a:pt x="0" y="10701"/>
                    <a:pt x="10701" y="0"/>
                    <a:pt x="23901" y="0"/>
                  </a:cubicBezTo>
                  <a:close/>
                </a:path>
              </a:pathLst>
            </a:custGeom>
            <a:solidFill>
              <a:srgbClr val="59A1D2">
                <a:alpha val="42745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2218095" cy="494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623374" y="198761"/>
            <a:ext cx="8983789" cy="3058190"/>
            <a:chOff x="-148006" y="-9525"/>
            <a:chExt cx="2366101" cy="805449"/>
          </a:xfrm>
        </p:grpSpPr>
        <p:sp>
          <p:nvSpPr>
            <p:cNvPr id="57" name="Freeform 57"/>
            <p:cNvSpPr/>
            <p:nvPr/>
          </p:nvSpPr>
          <p:spPr>
            <a:xfrm>
              <a:off x="-148006" y="402579"/>
              <a:ext cx="2218095" cy="393345"/>
            </a:xfrm>
            <a:custGeom>
              <a:avLst/>
              <a:gdLst/>
              <a:ahLst/>
              <a:cxnLst/>
              <a:rect l="l" t="t" r="r" b="b"/>
              <a:pathLst>
                <a:path w="2218095" h="393345">
                  <a:moveTo>
                    <a:pt x="23901" y="0"/>
                  </a:moveTo>
                  <a:lnTo>
                    <a:pt x="2194194" y="0"/>
                  </a:lnTo>
                  <a:cubicBezTo>
                    <a:pt x="2207394" y="0"/>
                    <a:pt x="2218095" y="10701"/>
                    <a:pt x="2218095" y="23901"/>
                  </a:cubicBezTo>
                  <a:lnTo>
                    <a:pt x="2218095" y="369444"/>
                  </a:lnTo>
                  <a:cubicBezTo>
                    <a:pt x="2218095" y="382644"/>
                    <a:pt x="2207394" y="393345"/>
                    <a:pt x="2194194" y="393345"/>
                  </a:cubicBezTo>
                  <a:lnTo>
                    <a:pt x="23901" y="393345"/>
                  </a:lnTo>
                  <a:cubicBezTo>
                    <a:pt x="10701" y="393345"/>
                    <a:pt x="0" y="382644"/>
                    <a:pt x="0" y="369444"/>
                  </a:cubicBezTo>
                  <a:lnTo>
                    <a:pt x="0" y="23901"/>
                  </a:lnTo>
                  <a:cubicBezTo>
                    <a:pt x="0" y="10701"/>
                    <a:pt x="10701" y="0"/>
                    <a:pt x="23901" y="0"/>
                  </a:cubicBezTo>
                  <a:close/>
                </a:path>
              </a:pathLst>
            </a:custGeom>
            <a:solidFill>
              <a:srgbClr val="1F497D">
                <a:alpha val="42745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2218095" cy="402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676</Words>
  <Application>Microsoft Office PowerPoint</Application>
  <PresentationFormat>Custom</PresentationFormat>
  <Paragraphs>197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6" baseType="lpstr">
      <vt:lpstr>Sniglet</vt:lpstr>
      <vt:lpstr>Times New Roman Bold</vt:lpstr>
      <vt:lpstr>Helvetica World</vt:lpstr>
      <vt:lpstr>HK Modular</vt:lpstr>
      <vt:lpstr>Garamond Bold</vt:lpstr>
      <vt:lpstr>Arial</vt:lpstr>
      <vt:lpstr>Ruda Black</vt:lpstr>
      <vt:lpstr>Canva Sans Bold</vt:lpstr>
      <vt:lpstr>Calibri</vt:lpstr>
      <vt:lpstr>Clear Sans Bold</vt:lpstr>
      <vt:lpstr>Nunito Bold</vt:lpstr>
      <vt:lpstr>Arial Bold</vt:lpstr>
      <vt:lpstr>KG Primary Penmanship</vt:lpstr>
      <vt:lpstr>Canva Sans</vt:lpstr>
      <vt:lpstr>PT Sans</vt:lpstr>
      <vt:lpstr>Arimo Bold</vt:lpstr>
      <vt:lpstr>Arimo</vt:lpstr>
      <vt:lpstr>Arial MT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HACKARENA_TEMPLATE.pptx</dc:title>
  <dc:creator>Atharv</dc:creator>
  <cp:lastModifiedBy>atharv kamthane</cp:lastModifiedBy>
  <cp:revision>2</cp:revision>
  <dcterms:created xsi:type="dcterms:W3CDTF">2006-08-16T00:00:00Z</dcterms:created>
  <dcterms:modified xsi:type="dcterms:W3CDTF">2026-03-05T23:32:32Z</dcterms:modified>
  <dc:identifier>DAHCmTpMYMs</dc:identifier>
</cp:coreProperties>
</file>